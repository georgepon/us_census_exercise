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4"/>
  </p:notesMasterIdLst>
  <p:sldIdLst>
    <p:sldId id="256" r:id="rId2"/>
    <p:sldId id="312" r:id="rId3"/>
    <p:sldId id="313" r:id="rId4"/>
    <p:sldId id="314" r:id="rId5"/>
    <p:sldId id="315" r:id="rId6"/>
    <p:sldId id="316" r:id="rId7"/>
    <p:sldId id="317" r:id="rId8"/>
    <p:sldId id="318" r:id="rId9"/>
    <p:sldId id="319" r:id="rId10"/>
    <p:sldId id="320" r:id="rId11"/>
    <p:sldId id="321" r:id="rId12"/>
    <p:sldId id="268" r:id="rId13"/>
  </p:sldIdLst>
  <p:sldSz cx="9144000" cy="5143500" type="screen16x9"/>
  <p:notesSz cx="6858000" cy="9144000"/>
  <p:embeddedFontLst>
    <p:embeddedFont>
      <p:font typeface="Maven Pro" panose="020B0604020202020204" charset="0"/>
      <p:regular r:id="rId15"/>
      <p:bold r:id="rId16"/>
    </p:embeddedFont>
    <p:embeddedFont>
      <p:font typeface="Montserrat" panose="000005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816BB0-FB98-4176-95A7-FE8656883816}">
  <a:tblStyle styleId="{C5816BB0-FB98-4176-95A7-FE865688381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F5A1FFE-258C-4F42-A3A4-BAD4FC4AF1D9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28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586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0" name="Google Shape;93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Google Shape;1117;g1e932d62275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8" name="Google Shape;1118;g1e932d62275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4037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g1e932d62275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4" name="Google Shape;1164;g1e932d62275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29319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Google Shape;1117;g1e932d62275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8" name="Google Shape;1118;g1e932d62275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70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1" name="Google Shape;1461;g1e9418e3c38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2" name="Google Shape;1462;g1e9418e3c38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77426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g1e932d62275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4" name="Google Shape;1164;g1e932d62275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05798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Google Shape;1117;g1e932d62275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8" name="Google Shape;1118;g1e932d62275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379144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Google Shape;1117;g1e932d62275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8" name="Google Shape;1118;g1e932d62275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3906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Google Shape;1255;g1e932d62275_0_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6" name="Google Shape;1256;g1e932d62275_0_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/>
          <p:nvPr/>
        </p:nvSpPr>
        <p:spPr>
          <a:xfrm rot="10800000" flipH="1">
            <a:off x="-78450" y="-78300"/>
            <a:ext cx="3429000" cy="851400"/>
          </a:xfrm>
          <a:prstGeom prst="round1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2308350" y="1494300"/>
            <a:ext cx="4527300" cy="171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308350" y="3204600"/>
            <a:ext cx="4527300" cy="44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7" name="Google Shape;77;p5"/>
          <p:cNvGrpSpPr/>
          <p:nvPr/>
        </p:nvGrpSpPr>
        <p:grpSpPr>
          <a:xfrm>
            <a:off x="-202950" y="-1524237"/>
            <a:ext cx="9908950" cy="5849938"/>
            <a:chOff x="-202950" y="-1524237"/>
            <a:chExt cx="9908950" cy="5849938"/>
          </a:xfrm>
        </p:grpSpPr>
        <p:sp>
          <p:nvSpPr>
            <p:cNvPr id="78" name="Google Shape;78;p5"/>
            <p:cNvSpPr/>
            <p:nvPr/>
          </p:nvSpPr>
          <p:spPr>
            <a:xfrm rot="10800000" flipH="1">
              <a:off x="-202950" y="-430750"/>
              <a:ext cx="3429000" cy="8514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79" name="Google Shape;79;p5"/>
            <p:cNvGrpSpPr/>
            <p:nvPr/>
          </p:nvGrpSpPr>
          <p:grpSpPr>
            <a:xfrm>
              <a:off x="8719875" y="2230200"/>
              <a:ext cx="986125" cy="2095500"/>
              <a:chOff x="7631225" y="2241175"/>
              <a:chExt cx="986125" cy="2095500"/>
            </a:xfrm>
          </p:grpSpPr>
          <p:cxnSp>
            <p:nvCxnSpPr>
              <p:cNvPr id="80" name="Google Shape;80;p5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" name="Google Shape;81;p5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" name="Google Shape;82;p5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" name="Google Shape;83;p5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" name="Google Shape;84;p5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5" name="Google Shape;85;p5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6" name="Google Shape;86;p5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7" name="Google Shape;87;p5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8" name="Google Shape;88;p5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9" name="Google Shape;89;p5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" name="Google Shape;90;p5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" name="Google Shape;91;p5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" name="Google Shape;92;p5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" name="Google Shape;93;p5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4" name="Google Shape;94;p5"/>
            <p:cNvGrpSpPr/>
            <p:nvPr/>
          </p:nvGrpSpPr>
          <p:grpSpPr>
            <a:xfrm>
              <a:off x="4865588" y="-1524237"/>
              <a:ext cx="1885275" cy="1884250"/>
              <a:chOff x="2609275" y="3149350"/>
              <a:chExt cx="1885275" cy="1884250"/>
            </a:xfrm>
          </p:grpSpPr>
          <p:sp>
            <p:nvSpPr>
              <p:cNvPr id="95" name="Google Shape;95;p5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5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5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5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5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100;p5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5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5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103;p5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104;p5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5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106;p5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5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108;p5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5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110;p5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111;p5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112;p5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Google Shape;113;p5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4" name="Google Shape;114;p5"/>
          <p:cNvGrpSpPr/>
          <p:nvPr/>
        </p:nvGrpSpPr>
        <p:grpSpPr>
          <a:xfrm>
            <a:off x="-5879" y="147025"/>
            <a:ext cx="9561029" cy="4996475"/>
            <a:chOff x="-5879" y="147025"/>
            <a:chExt cx="9561029" cy="4996475"/>
          </a:xfrm>
        </p:grpSpPr>
        <p:sp>
          <p:nvSpPr>
            <p:cNvPr id="115" name="Google Shape;115;p5"/>
            <p:cNvSpPr/>
            <p:nvPr/>
          </p:nvSpPr>
          <p:spPr>
            <a:xfrm>
              <a:off x="0" y="4570725"/>
              <a:ext cx="3023100" cy="5727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16" name="Google Shape;116;p5"/>
            <p:cNvSpPr/>
            <p:nvPr/>
          </p:nvSpPr>
          <p:spPr>
            <a:xfrm>
              <a:off x="7672650" y="147025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17" name="Google Shape;117;p5"/>
            <p:cNvSpPr/>
            <p:nvPr/>
          </p:nvSpPr>
          <p:spPr>
            <a:xfrm flipH="1">
              <a:off x="6920275" y="4829625"/>
              <a:ext cx="22158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18" name="Google Shape;118;p5"/>
            <p:cNvSpPr/>
            <p:nvPr/>
          </p:nvSpPr>
          <p:spPr>
            <a:xfrm>
              <a:off x="-5879" y="3272100"/>
              <a:ext cx="530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119" name="Google Shape;119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5"/>
          <p:cNvSpPr txBox="1">
            <a:spLocks noGrp="1"/>
          </p:cNvSpPr>
          <p:nvPr>
            <p:ph type="subTitle" idx="1"/>
          </p:nvPr>
        </p:nvSpPr>
        <p:spPr>
          <a:xfrm>
            <a:off x="826450" y="2085250"/>
            <a:ext cx="3516600" cy="17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5"/>
          <p:cNvSpPr txBox="1">
            <a:spLocks noGrp="1"/>
          </p:cNvSpPr>
          <p:nvPr>
            <p:ph type="subTitle" idx="2"/>
          </p:nvPr>
        </p:nvSpPr>
        <p:spPr>
          <a:xfrm>
            <a:off x="4800925" y="2085250"/>
            <a:ext cx="3516600" cy="17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2" name="Google Shape;182;p8"/>
          <p:cNvGrpSpPr/>
          <p:nvPr/>
        </p:nvGrpSpPr>
        <p:grpSpPr>
          <a:xfrm>
            <a:off x="6873876" y="0"/>
            <a:ext cx="2263500" cy="1871400"/>
            <a:chOff x="6873876" y="0"/>
            <a:chExt cx="2263500" cy="1871400"/>
          </a:xfrm>
        </p:grpSpPr>
        <p:sp>
          <p:nvSpPr>
            <p:cNvPr id="183" name="Google Shape;183;p8"/>
            <p:cNvSpPr/>
            <p:nvPr/>
          </p:nvSpPr>
          <p:spPr>
            <a:xfrm flipH="1">
              <a:off x="8414976" y="0"/>
              <a:ext cx="722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84" name="Google Shape;184;p8"/>
            <p:cNvSpPr/>
            <p:nvPr/>
          </p:nvSpPr>
          <p:spPr>
            <a:xfrm rot="10800000">
              <a:off x="6873876" y="0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185" name="Google Shape;185;p8"/>
          <p:cNvGrpSpPr/>
          <p:nvPr/>
        </p:nvGrpSpPr>
        <p:grpSpPr>
          <a:xfrm>
            <a:off x="6053826" y="2401638"/>
            <a:ext cx="4322888" cy="2780726"/>
            <a:chOff x="6053826" y="2401638"/>
            <a:chExt cx="4322888" cy="2780726"/>
          </a:xfrm>
        </p:grpSpPr>
        <p:sp>
          <p:nvSpPr>
            <p:cNvPr id="186" name="Google Shape;186;p8"/>
            <p:cNvSpPr/>
            <p:nvPr/>
          </p:nvSpPr>
          <p:spPr>
            <a:xfrm flipH="1">
              <a:off x="6053826" y="4571263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187" name="Google Shape;187;p8"/>
            <p:cNvGrpSpPr/>
            <p:nvPr/>
          </p:nvGrpSpPr>
          <p:grpSpPr>
            <a:xfrm flipH="1">
              <a:off x="8491439" y="2401638"/>
              <a:ext cx="1885275" cy="1884250"/>
              <a:chOff x="2609275" y="3149350"/>
              <a:chExt cx="1885275" cy="1884250"/>
            </a:xfrm>
          </p:grpSpPr>
          <p:sp>
            <p:nvSpPr>
              <p:cNvPr id="188" name="Google Shape;188;p8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Google Shape;189;p8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Google Shape;190;p8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Google Shape;191;p8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Google Shape;192;p8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Google Shape;193;p8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Google Shape;194;p8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Google Shape;195;p8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8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Google Shape;197;p8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Google Shape;198;p8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99;p8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8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8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202;p8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Google Shape;203;p8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Google Shape;204;p8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06;p8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07" name="Google Shape;207;p8"/>
          <p:cNvSpPr txBox="1">
            <a:spLocks noGrp="1"/>
          </p:cNvSpPr>
          <p:nvPr>
            <p:ph type="title"/>
          </p:nvPr>
        </p:nvSpPr>
        <p:spPr>
          <a:xfrm>
            <a:off x="1892300" y="1524000"/>
            <a:ext cx="5359500" cy="209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7_1"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3" name="Google Shape;363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64" name="Google Shape;364;p16"/>
          <p:cNvGrpSpPr/>
          <p:nvPr/>
        </p:nvGrpSpPr>
        <p:grpSpPr>
          <a:xfrm>
            <a:off x="-413550" y="1958000"/>
            <a:ext cx="10720388" cy="2311663"/>
            <a:chOff x="-413550" y="1958000"/>
            <a:chExt cx="10720388" cy="2311663"/>
          </a:xfrm>
        </p:grpSpPr>
        <p:grpSp>
          <p:nvGrpSpPr>
            <p:cNvPr id="365" name="Google Shape;365;p16"/>
            <p:cNvGrpSpPr/>
            <p:nvPr/>
          </p:nvGrpSpPr>
          <p:grpSpPr>
            <a:xfrm>
              <a:off x="8421563" y="2385413"/>
              <a:ext cx="1885275" cy="1884250"/>
              <a:chOff x="2609275" y="3149350"/>
              <a:chExt cx="1885275" cy="1884250"/>
            </a:xfrm>
          </p:grpSpPr>
          <p:sp>
            <p:nvSpPr>
              <p:cNvPr id="366" name="Google Shape;366;p16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Google Shape;367;p16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Google Shape;368;p16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Google Shape;369;p16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Google Shape;370;p16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Google Shape;371;p16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6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Google Shape;373;p16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Google Shape;374;p16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Google Shape;375;p16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Google Shape;376;p16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Google Shape;377;p16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16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Google Shape;379;p16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6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Google Shape;381;p16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Google Shape;382;p16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Google Shape;383;p16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Google Shape;384;p16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85" name="Google Shape;385;p16"/>
            <p:cNvGrpSpPr/>
            <p:nvPr/>
          </p:nvGrpSpPr>
          <p:grpSpPr>
            <a:xfrm>
              <a:off x="-413550" y="1958000"/>
              <a:ext cx="986125" cy="2095500"/>
              <a:chOff x="7631225" y="2241175"/>
              <a:chExt cx="986125" cy="2095500"/>
            </a:xfrm>
          </p:grpSpPr>
          <p:cxnSp>
            <p:nvCxnSpPr>
              <p:cNvPr id="386" name="Google Shape;386;p16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6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8" name="Google Shape;388;p16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9" name="Google Shape;389;p16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0" name="Google Shape;390;p16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1" name="Google Shape;391;p16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2" name="Google Shape;392;p16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3" name="Google Shape;393;p16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4" name="Google Shape;394;p16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5" name="Google Shape;395;p16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6" name="Google Shape;396;p16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7" name="Google Shape;397;p16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8" name="Google Shape;398;p16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9" name="Google Shape;399;p16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400" name="Google Shape;400;p16"/>
          <p:cNvGrpSpPr/>
          <p:nvPr/>
        </p:nvGrpSpPr>
        <p:grpSpPr>
          <a:xfrm>
            <a:off x="7925" y="-25"/>
            <a:ext cx="9136075" cy="5143513"/>
            <a:chOff x="7925" y="-25"/>
            <a:chExt cx="9136075" cy="5143513"/>
          </a:xfrm>
        </p:grpSpPr>
        <p:sp>
          <p:nvSpPr>
            <p:cNvPr id="401" name="Google Shape;401;p16"/>
            <p:cNvSpPr/>
            <p:nvPr/>
          </p:nvSpPr>
          <p:spPr>
            <a:xfrm>
              <a:off x="7925" y="4829688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402" name="Google Shape;402;p16"/>
            <p:cNvSpPr/>
            <p:nvPr/>
          </p:nvSpPr>
          <p:spPr>
            <a:xfrm rot="10800000">
              <a:off x="7504200" y="-25"/>
              <a:ext cx="1639800" cy="4248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403" name="Google Shape;403;p1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4" name="Google Shape;604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05" name="Google Shape;605;p25"/>
          <p:cNvGrpSpPr/>
          <p:nvPr/>
        </p:nvGrpSpPr>
        <p:grpSpPr>
          <a:xfrm>
            <a:off x="-49825" y="-374550"/>
            <a:ext cx="9556425" cy="7430813"/>
            <a:chOff x="-49825" y="-374550"/>
            <a:chExt cx="9556425" cy="7430813"/>
          </a:xfrm>
        </p:grpSpPr>
        <p:sp>
          <p:nvSpPr>
            <p:cNvPr id="606" name="Google Shape;606;p25"/>
            <p:cNvSpPr/>
            <p:nvPr/>
          </p:nvSpPr>
          <p:spPr>
            <a:xfrm rot="10800000" flipH="1">
              <a:off x="-49825" y="-195100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607" name="Google Shape;607;p25"/>
            <p:cNvGrpSpPr/>
            <p:nvPr/>
          </p:nvGrpSpPr>
          <p:grpSpPr>
            <a:xfrm>
              <a:off x="8520475" y="-374550"/>
              <a:ext cx="986125" cy="2095500"/>
              <a:chOff x="7631225" y="2241175"/>
              <a:chExt cx="986125" cy="2095500"/>
            </a:xfrm>
          </p:grpSpPr>
          <p:cxnSp>
            <p:nvCxnSpPr>
              <p:cNvPr id="608" name="Google Shape;608;p25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9" name="Google Shape;609;p25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0" name="Google Shape;610;p25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1" name="Google Shape;611;p25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2" name="Google Shape;612;p25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3" name="Google Shape;613;p25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4" name="Google Shape;614;p25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5" name="Google Shape;615;p25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6" name="Google Shape;616;p25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7" name="Google Shape;617;p25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8" name="Google Shape;618;p25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9" name="Google Shape;619;p25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0" name="Google Shape;620;p25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5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22" name="Google Shape;622;p25"/>
            <p:cNvSpPr/>
            <p:nvPr/>
          </p:nvSpPr>
          <p:spPr>
            <a:xfrm rot="5400000">
              <a:off x="2920037" y="4730438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23" name="Google Shape;623;p25"/>
          <p:cNvGrpSpPr/>
          <p:nvPr/>
        </p:nvGrpSpPr>
        <p:grpSpPr>
          <a:xfrm>
            <a:off x="-323125" y="3272100"/>
            <a:ext cx="9467125" cy="1871400"/>
            <a:chOff x="-323125" y="3272100"/>
            <a:chExt cx="9467125" cy="1871400"/>
          </a:xfrm>
        </p:grpSpPr>
        <p:sp>
          <p:nvSpPr>
            <p:cNvPr id="624" name="Google Shape;624;p25"/>
            <p:cNvSpPr/>
            <p:nvPr/>
          </p:nvSpPr>
          <p:spPr>
            <a:xfrm>
              <a:off x="0" y="3272100"/>
              <a:ext cx="4575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25" name="Google Shape;625;p25"/>
            <p:cNvSpPr/>
            <p:nvPr/>
          </p:nvSpPr>
          <p:spPr>
            <a:xfrm flipH="1">
              <a:off x="8600100" y="3551700"/>
              <a:ext cx="543900" cy="15918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26" name="Google Shape;626;p25"/>
            <p:cNvSpPr/>
            <p:nvPr/>
          </p:nvSpPr>
          <p:spPr>
            <a:xfrm>
              <a:off x="-323125" y="473045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27" name="Google Shape;627;p25"/>
            <p:cNvSpPr/>
            <p:nvPr/>
          </p:nvSpPr>
          <p:spPr>
            <a:xfrm flipH="1">
              <a:off x="6880500" y="4829700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628" name="Google Shape;628;p2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25"/>
          <p:cNvSpPr txBox="1">
            <a:spLocks noGrp="1"/>
          </p:cNvSpPr>
          <p:nvPr>
            <p:ph type="subTitle" idx="1"/>
          </p:nvPr>
        </p:nvSpPr>
        <p:spPr>
          <a:xfrm>
            <a:off x="798552" y="286795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630" name="Google Shape;630;p25"/>
          <p:cNvSpPr txBox="1">
            <a:spLocks noGrp="1"/>
          </p:cNvSpPr>
          <p:nvPr>
            <p:ph type="subTitle" idx="2"/>
          </p:nvPr>
        </p:nvSpPr>
        <p:spPr>
          <a:xfrm>
            <a:off x="3377088" y="286795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631" name="Google Shape;631;p25"/>
          <p:cNvSpPr txBox="1">
            <a:spLocks noGrp="1"/>
          </p:cNvSpPr>
          <p:nvPr>
            <p:ph type="subTitle" idx="3"/>
          </p:nvPr>
        </p:nvSpPr>
        <p:spPr>
          <a:xfrm>
            <a:off x="798552" y="256747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632" name="Google Shape;632;p25"/>
          <p:cNvSpPr txBox="1">
            <a:spLocks noGrp="1"/>
          </p:cNvSpPr>
          <p:nvPr>
            <p:ph type="subTitle" idx="4"/>
          </p:nvPr>
        </p:nvSpPr>
        <p:spPr>
          <a:xfrm>
            <a:off x="3377096" y="256747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633" name="Google Shape;633;p25"/>
          <p:cNvSpPr txBox="1">
            <a:spLocks noGrp="1"/>
          </p:cNvSpPr>
          <p:nvPr>
            <p:ph type="subTitle" idx="5"/>
          </p:nvPr>
        </p:nvSpPr>
        <p:spPr>
          <a:xfrm>
            <a:off x="5955640" y="286795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634" name="Google Shape;634;p25"/>
          <p:cNvSpPr txBox="1">
            <a:spLocks noGrp="1"/>
          </p:cNvSpPr>
          <p:nvPr>
            <p:ph type="subTitle" idx="6"/>
          </p:nvPr>
        </p:nvSpPr>
        <p:spPr>
          <a:xfrm>
            <a:off x="5955648" y="256747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8" name="Google Shape;878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" name="Google Shape;880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81" name="Google Shape;881;p33"/>
          <p:cNvGrpSpPr/>
          <p:nvPr/>
        </p:nvGrpSpPr>
        <p:grpSpPr>
          <a:xfrm>
            <a:off x="0" y="-25"/>
            <a:ext cx="9552075" cy="5143375"/>
            <a:chOff x="0" y="-25"/>
            <a:chExt cx="9552075" cy="5143375"/>
          </a:xfrm>
        </p:grpSpPr>
        <p:sp>
          <p:nvSpPr>
            <p:cNvPr id="882" name="Google Shape;882;p33"/>
            <p:cNvSpPr/>
            <p:nvPr/>
          </p:nvSpPr>
          <p:spPr>
            <a:xfrm>
              <a:off x="0" y="0"/>
              <a:ext cx="722400" cy="24021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83" name="Google Shape;883;p33"/>
            <p:cNvSpPr/>
            <p:nvPr/>
          </p:nvSpPr>
          <p:spPr>
            <a:xfrm flipH="1">
              <a:off x="6943500" y="4306950"/>
              <a:ext cx="2200500" cy="8364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84" name="Google Shape;884;p33"/>
            <p:cNvSpPr/>
            <p:nvPr/>
          </p:nvSpPr>
          <p:spPr>
            <a:xfrm rot="10800000" flipH="1">
              <a:off x="0" y="-25"/>
              <a:ext cx="2263500" cy="8421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85" name="Google Shape;885;p33"/>
            <p:cNvSpPr/>
            <p:nvPr/>
          </p:nvSpPr>
          <p:spPr>
            <a:xfrm>
              <a:off x="7669575" y="475545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886" name="Google Shape;886;p33"/>
          <p:cNvGrpSpPr/>
          <p:nvPr/>
        </p:nvGrpSpPr>
        <p:grpSpPr>
          <a:xfrm>
            <a:off x="489563" y="-211525"/>
            <a:ext cx="8425113" cy="6291588"/>
            <a:chOff x="489563" y="-211525"/>
            <a:chExt cx="8425113" cy="6291588"/>
          </a:xfrm>
        </p:grpSpPr>
        <p:grpSp>
          <p:nvGrpSpPr>
            <p:cNvPr id="887" name="Google Shape;887;p33"/>
            <p:cNvGrpSpPr/>
            <p:nvPr/>
          </p:nvGrpSpPr>
          <p:grpSpPr>
            <a:xfrm>
              <a:off x="489563" y="4195813"/>
              <a:ext cx="1885275" cy="1884250"/>
              <a:chOff x="2609275" y="3149350"/>
              <a:chExt cx="1885275" cy="1884250"/>
            </a:xfrm>
          </p:grpSpPr>
          <p:sp>
            <p:nvSpPr>
              <p:cNvPr id="888" name="Google Shape;888;p33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Google Shape;889;p33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Google Shape;890;p33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Google Shape;891;p33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Google Shape;892;p33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Google Shape;893;p33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Google Shape;894;p33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Google Shape;895;p33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Google Shape;896;p33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Google Shape;897;p33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Google Shape;898;p33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Google Shape;899;p33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Google Shape;900;p33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Google Shape;901;p33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Google Shape;902;p33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Google Shape;903;p33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Google Shape;904;p33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Google Shape;905;p33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33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07" name="Google Shape;907;p33"/>
            <p:cNvGrpSpPr/>
            <p:nvPr/>
          </p:nvGrpSpPr>
          <p:grpSpPr>
            <a:xfrm>
              <a:off x="7928550" y="-211525"/>
              <a:ext cx="986125" cy="2095500"/>
              <a:chOff x="7631225" y="2241175"/>
              <a:chExt cx="986125" cy="2095500"/>
            </a:xfrm>
          </p:grpSpPr>
          <p:cxnSp>
            <p:nvCxnSpPr>
              <p:cNvPr id="908" name="Google Shape;908;p33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9" name="Google Shape;909;p33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0" name="Google Shape;910;p33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1" name="Google Shape;911;p33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2" name="Google Shape;912;p33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3" name="Google Shape;913;p33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4" name="Google Shape;914;p33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5" name="Google Shape;915;p33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6" name="Google Shape;916;p33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7" name="Google Shape;917;p33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8" name="Google Shape;918;p33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9" name="Google Shape;919;p33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0" name="Google Shape;920;p33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1" name="Google Shape;921;p33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4" r:id="rId3"/>
    <p:sldLayoutId id="2147483658" r:id="rId4"/>
    <p:sldLayoutId id="2147483662" r:id="rId5"/>
    <p:sldLayoutId id="2147483671" r:id="rId6"/>
    <p:sldLayoutId id="2147483678" r:id="rId7"/>
    <p:sldLayoutId id="2147483679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Google Shape;932;p37"/>
          <p:cNvSpPr txBox="1">
            <a:spLocks noGrp="1"/>
          </p:cNvSpPr>
          <p:nvPr>
            <p:ph type="ctrTitle"/>
          </p:nvPr>
        </p:nvSpPr>
        <p:spPr>
          <a:xfrm>
            <a:off x="1613614" y="1494300"/>
            <a:ext cx="5916772" cy="171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 dirty="0"/>
              <a:t>Understanding Drivers of Earning Above/Below $50k</a:t>
            </a:r>
            <a:endParaRPr sz="3200" dirty="0"/>
          </a:p>
        </p:txBody>
      </p:sp>
      <p:sp>
        <p:nvSpPr>
          <p:cNvPr id="933" name="Google Shape;933;p37"/>
          <p:cNvSpPr txBox="1">
            <a:spLocks noGrp="1"/>
          </p:cNvSpPr>
          <p:nvPr>
            <p:ph type="subTitle" idx="1"/>
          </p:nvPr>
        </p:nvSpPr>
        <p:spPr>
          <a:xfrm>
            <a:off x="1480000" y="3204600"/>
            <a:ext cx="6184000" cy="44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A walkthrough of the approach, insights, and modelling pipeline.</a:t>
            </a:r>
          </a:p>
        </p:txBody>
      </p:sp>
      <p:grpSp>
        <p:nvGrpSpPr>
          <p:cNvPr id="934" name="Google Shape;934;p37"/>
          <p:cNvGrpSpPr/>
          <p:nvPr/>
        </p:nvGrpSpPr>
        <p:grpSpPr>
          <a:xfrm>
            <a:off x="5524419" y="2241175"/>
            <a:ext cx="3619432" cy="2902209"/>
            <a:chOff x="5524419" y="2241175"/>
            <a:chExt cx="3619432" cy="2902209"/>
          </a:xfrm>
        </p:grpSpPr>
        <p:grpSp>
          <p:nvGrpSpPr>
            <p:cNvPr id="935" name="Google Shape;935;p37"/>
            <p:cNvGrpSpPr/>
            <p:nvPr/>
          </p:nvGrpSpPr>
          <p:grpSpPr>
            <a:xfrm>
              <a:off x="5524419" y="4160759"/>
              <a:ext cx="3619432" cy="982624"/>
              <a:chOff x="4986600" y="4014825"/>
              <a:chExt cx="4157400" cy="1128675"/>
            </a:xfrm>
          </p:grpSpPr>
          <p:sp>
            <p:nvSpPr>
              <p:cNvPr id="936" name="Google Shape;936;p37"/>
              <p:cNvSpPr/>
              <p:nvPr/>
            </p:nvSpPr>
            <p:spPr>
              <a:xfrm flipH="1">
                <a:off x="5715000" y="4014825"/>
                <a:ext cx="3429000" cy="1128600"/>
              </a:xfrm>
              <a:prstGeom prst="round1Rect">
                <a:avLst>
                  <a:gd name="adj" fmla="val 5000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Maven Pro"/>
                  <a:ea typeface="Maven Pro"/>
                  <a:cs typeface="Maven Pro"/>
                  <a:sym typeface="Maven Pro"/>
                </a:endParaRPr>
              </a:p>
            </p:txBody>
          </p:sp>
          <p:sp>
            <p:nvSpPr>
              <p:cNvPr id="937" name="Google Shape;937;p37"/>
              <p:cNvSpPr/>
              <p:nvPr/>
            </p:nvSpPr>
            <p:spPr>
              <a:xfrm flipH="1">
                <a:off x="4986600" y="4527300"/>
                <a:ext cx="4157400" cy="616200"/>
              </a:xfrm>
              <a:prstGeom prst="round1Rect">
                <a:avLst>
                  <a:gd name="adj" fmla="val 50000"/>
                </a:avLst>
              </a:prstGeom>
              <a:solidFill>
                <a:srgbClr val="63DBF5">
                  <a:alpha val="689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Maven Pro"/>
                  <a:ea typeface="Maven Pro"/>
                  <a:cs typeface="Maven Pro"/>
                  <a:sym typeface="Maven Pro"/>
                </a:endParaRPr>
              </a:p>
            </p:txBody>
          </p:sp>
        </p:grpSp>
        <p:grpSp>
          <p:nvGrpSpPr>
            <p:cNvPr id="938" name="Google Shape;938;p37"/>
            <p:cNvGrpSpPr/>
            <p:nvPr/>
          </p:nvGrpSpPr>
          <p:grpSpPr>
            <a:xfrm>
              <a:off x="7631225" y="2241175"/>
              <a:ext cx="986125" cy="2095500"/>
              <a:chOff x="7631225" y="2241175"/>
              <a:chExt cx="986125" cy="2095500"/>
            </a:xfrm>
          </p:grpSpPr>
          <p:cxnSp>
            <p:nvCxnSpPr>
              <p:cNvPr id="939" name="Google Shape;939;p37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0" name="Google Shape;940;p37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1" name="Google Shape;941;p37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2" name="Google Shape;942;p37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3" name="Google Shape;943;p37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4" name="Google Shape;944;p37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5" name="Google Shape;945;p37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6" name="Google Shape;946;p37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7" name="Google Shape;947;p37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8" name="Google Shape;948;p37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9" name="Google Shape;949;p37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0" name="Google Shape;950;p37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1" name="Google Shape;951;p37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2" name="Google Shape;952;p37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953" name="Google Shape;953;p37"/>
          <p:cNvGrpSpPr/>
          <p:nvPr/>
        </p:nvGrpSpPr>
        <p:grpSpPr>
          <a:xfrm>
            <a:off x="-630087" y="1859288"/>
            <a:ext cx="2893588" cy="3284238"/>
            <a:chOff x="-630087" y="1859288"/>
            <a:chExt cx="2893588" cy="3284238"/>
          </a:xfrm>
        </p:grpSpPr>
        <p:sp>
          <p:nvSpPr>
            <p:cNvPr id="954" name="Google Shape;954;p37"/>
            <p:cNvSpPr/>
            <p:nvPr/>
          </p:nvSpPr>
          <p:spPr>
            <a:xfrm>
              <a:off x="0" y="3272100"/>
              <a:ext cx="12552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955" name="Google Shape;955;p37"/>
            <p:cNvSpPr/>
            <p:nvPr/>
          </p:nvSpPr>
          <p:spPr>
            <a:xfrm>
              <a:off x="0" y="4829725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956" name="Google Shape;956;p37"/>
            <p:cNvGrpSpPr/>
            <p:nvPr/>
          </p:nvGrpSpPr>
          <p:grpSpPr>
            <a:xfrm>
              <a:off x="-630087" y="1859288"/>
              <a:ext cx="1885275" cy="1884250"/>
              <a:chOff x="2609275" y="3149350"/>
              <a:chExt cx="1885275" cy="1884250"/>
            </a:xfrm>
          </p:grpSpPr>
          <p:sp>
            <p:nvSpPr>
              <p:cNvPr id="957" name="Google Shape;957;p37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37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37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37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37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37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Google Shape;963;p37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Google Shape;964;p37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37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37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37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37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Google Shape;969;p37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Google Shape;970;p37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37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37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Google Shape;973;p37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Google Shape;974;p37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Google Shape;975;p37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76" name="Google Shape;976;p37"/>
          <p:cNvGrpSpPr/>
          <p:nvPr/>
        </p:nvGrpSpPr>
        <p:grpSpPr>
          <a:xfrm>
            <a:off x="5969750" y="-1678600"/>
            <a:ext cx="3756875" cy="2788075"/>
            <a:chOff x="5969750" y="-1678600"/>
            <a:chExt cx="3756875" cy="2788075"/>
          </a:xfrm>
        </p:grpSpPr>
        <p:sp>
          <p:nvSpPr>
            <p:cNvPr id="977" name="Google Shape;977;p37"/>
            <p:cNvSpPr/>
            <p:nvPr/>
          </p:nvSpPr>
          <p:spPr>
            <a:xfrm>
              <a:off x="7844125" y="896475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978" name="Google Shape;978;p37"/>
            <p:cNvSpPr/>
            <p:nvPr/>
          </p:nvSpPr>
          <p:spPr>
            <a:xfrm rot="-5400000">
              <a:off x="5969750" y="-1678600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p4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data are we working with? </a:t>
            </a:r>
            <a:endParaRPr dirty="0"/>
          </a:p>
        </p:txBody>
      </p:sp>
      <p:sp>
        <p:nvSpPr>
          <p:cNvPr id="1121" name="Google Shape;1121;p43"/>
          <p:cNvSpPr txBox="1">
            <a:spLocks noGrp="1"/>
          </p:cNvSpPr>
          <p:nvPr>
            <p:ph type="subTitle" idx="1"/>
          </p:nvPr>
        </p:nvSpPr>
        <p:spPr>
          <a:xfrm>
            <a:off x="821454" y="1243009"/>
            <a:ext cx="3516600" cy="31101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600"/>
              </a:spcAft>
            </a:pPr>
            <a:r>
              <a:rPr lang="en-GB" b="1" dirty="0"/>
              <a:t>Key Characteristics</a:t>
            </a:r>
          </a:p>
          <a:p>
            <a:pPr marL="171450" lvl="0" indent="-171450" algn="l" rtl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US Census data from 1994/1995</a:t>
            </a:r>
          </a:p>
          <a:p>
            <a:pPr marL="171450" lvl="0" indent="-171450" algn="l" rtl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~300k rows / anonymised individuals</a:t>
            </a:r>
          </a:p>
          <a:p>
            <a:pPr marL="171450" lvl="0" indent="-171450" algn="l" rtl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Demographics, education, job features</a:t>
            </a:r>
          </a:p>
          <a:p>
            <a:pPr marL="171450" lvl="0" indent="-171450" algn="l" rtl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Target column is binary (&gt;$50k or &lt;=$50k)</a:t>
            </a: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</a:pPr>
            <a:r>
              <a:rPr lang="en-GB" b="1" dirty="0"/>
              <a:t>Data Health</a:t>
            </a:r>
          </a:p>
          <a:p>
            <a:pPr marL="171450" lvl="0" indent="-171450" algn="l" rtl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No nulls/missing values</a:t>
            </a:r>
          </a:p>
          <a:p>
            <a:pPr marL="171450" lvl="0" indent="-171450" algn="l" rtl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High target (income) class imbalance: </a:t>
            </a:r>
          </a:p>
          <a:p>
            <a:pPr marL="628650" lvl="1" indent="-1714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Only ~6% of observations above $50k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9E72C9-466B-4A2F-E591-EDC449022D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6545" y="1133986"/>
            <a:ext cx="2178570" cy="3470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246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4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stood out at first glance?</a:t>
            </a:r>
            <a:endParaRPr dirty="0"/>
          </a:p>
        </p:txBody>
      </p:sp>
      <p:sp>
        <p:nvSpPr>
          <p:cNvPr id="1167" name="Google Shape;1167;p46"/>
          <p:cNvSpPr txBox="1">
            <a:spLocks noGrp="1"/>
          </p:cNvSpPr>
          <p:nvPr>
            <p:ph type="subTitle" idx="1"/>
          </p:nvPr>
        </p:nvSpPr>
        <p:spPr>
          <a:xfrm>
            <a:off x="722375" y="336170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Individuals with higher educational attainment are far more likely to fall into the &gt;$50k income group</a:t>
            </a:r>
            <a:endParaRPr lang="en" dirty="0"/>
          </a:p>
        </p:txBody>
      </p:sp>
      <p:sp>
        <p:nvSpPr>
          <p:cNvPr id="1168" name="Google Shape;1168;p46"/>
          <p:cNvSpPr txBox="1">
            <a:spLocks noGrp="1"/>
          </p:cNvSpPr>
          <p:nvPr>
            <p:ph type="subTitle" idx="2"/>
          </p:nvPr>
        </p:nvSpPr>
        <p:spPr>
          <a:xfrm>
            <a:off x="3300911" y="336170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Managerial and certain specialised roles show a strong concentration of higher earners compared to other occupations</a:t>
            </a:r>
            <a:endParaRPr dirty="0"/>
          </a:p>
        </p:txBody>
      </p:sp>
      <p:sp>
        <p:nvSpPr>
          <p:cNvPr id="1169" name="Google Shape;1169;p46"/>
          <p:cNvSpPr txBox="1">
            <a:spLocks noGrp="1"/>
          </p:cNvSpPr>
          <p:nvPr>
            <p:ph type="subTitle" idx="3"/>
          </p:nvPr>
        </p:nvSpPr>
        <p:spPr>
          <a:xfrm>
            <a:off x="722375" y="306122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Education</a:t>
            </a:r>
            <a:endParaRPr dirty="0"/>
          </a:p>
        </p:txBody>
      </p:sp>
      <p:sp>
        <p:nvSpPr>
          <p:cNvPr id="1170" name="Google Shape;1170;p46"/>
          <p:cNvSpPr txBox="1">
            <a:spLocks noGrp="1"/>
          </p:cNvSpPr>
          <p:nvPr>
            <p:ph type="subTitle" idx="4"/>
          </p:nvPr>
        </p:nvSpPr>
        <p:spPr>
          <a:xfrm>
            <a:off x="3300919" y="306122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Occupation</a:t>
            </a:r>
            <a:endParaRPr dirty="0"/>
          </a:p>
        </p:txBody>
      </p:sp>
      <p:sp>
        <p:nvSpPr>
          <p:cNvPr id="1171" name="Google Shape;1171;p46"/>
          <p:cNvSpPr txBox="1">
            <a:spLocks noGrp="1"/>
          </p:cNvSpPr>
          <p:nvPr>
            <p:ph type="subTitle" idx="5"/>
          </p:nvPr>
        </p:nvSpPr>
        <p:spPr>
          <a:xfrm>
            <a:off x="6031775" y="3647819"/>
            <a:ext cx="2389800" cy="8583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Demographic groups differ noticeably in income distribution. These patterns reflect broader social and structural factors</a:t>
            </a:r>
            <a:endParaRPr dirty="0"/>
          </a:p>
        </p:txBody>
      </p:sp>
      <p:sp>
        <p:nvSpPr>
          <p:cNvPr id="1172" name="Google Shape;1172;p46"/>
          <p:cNvSpPr txBox="1">
            <a:spLocks noGrp="1"/>
          </p:cNvSpPr>
          <p:nvPr>
            <p:ph type="subTitle" idx="6"/>
          </p:nvPr>
        </p:nvSpPr>
        <p:spPr>
          <a:xfrm>
            <a:off x="6031775" y="3061225"/>
            <a:ext cx="2389800" cy="68439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Protected Characteristics</a:t>
            </a:r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92927A-C7BE-7974-7DD8-DB3192C9F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452" y="1412675"/>
            <a:ext cx="2581800" cy="15374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235B5B-7738-5A6D-7C8C-9BFEDBB261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8252" y="1412675"/>
            <a:ext cx="2585427" cy="15374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933FF8A-7BF3-1189-7B06-EC671A43A6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680" y="1412675"/>
            <a:ext cx="2581799" cy="1537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436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p4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Approach to protected characteristics</a:t>
            </a:r>
            <a:endParaRPr dirty="0"/>
          </a:p>
        </p:txBody>
      </p:sp>
      <p:sp>
        <p:nvSpPr>
          <p:cNvPr id="1122" name="Google Shape;1122;p43"/>
          <p:cNvSpPr txBox="1">
            <a:spLocks noGrp="1"/>
          </p:cNvSpPr>
          <p:nvPr>
            <p:ph type="subTitle" idx="2"/>
          </p:nvPr>
        </p:nvSpPr>
        <p:spPr>
          <a:xfrm>
            <a:off x="3969651" y="1315367"/>
            <a:ext cx="4123033" cy="22796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dirty="0"/>
              <a:t>Race, marital status, gender, age and others should be treated with caution</a:t>
            </a:r>
          </a:p>
          <a:p>
            <a:pPr marL="171450" lvl="0" indent="-171450" algn="l" rtl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dirty="0"/>
              <a:t>They will be used as part of this analysis and experimentation piece</a:t>
            </a:r>
          </a:p>
          <a:p>
            <a:pPr marL="171450" lvl="0" indent="-171450" algn="l" rtl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dirty="0"/>
              <a:t>For any actions off the back of this or any deployed use cases, an established process should be followed:</a:t>
            </a:r>
          </a:p>
          <a:p>
            <a:pPr marL="628650" lvl="1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" dirty="0"/>
              <a:t>Consultation with Risk area</a:t>
            </a:r>
          </a:p>
          <a:p>
            <a:pPr marL="628650" lvl="1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" dirty="0"/>
              <a:t>Fairness and ethical assessment</a:t>
            </a:r>
          </a:p>
          <a:p>
            <a:pPr marL="628650" lvl="1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" dirty="0"/>
              <a:t>Inclusion into product governance</a:t>
            </a:r>
          </a:p>
          <a:p>
            <a:pPr marL="628650" lvl="1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" dirty="0"/>
              <a:t>Potential masking/exclusion of features</a:t>
            </a:r>
          </a:p>
          <a:p>
            <a:pPr marL="628650" lvl="1" indent="-1714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" dirty="0"/>
          </a:p>
        </p:txBody>
      </p:sp>
      <p:grpSp>
        <p:nvGrpSpPr>
          <p:cNvPr id="4" name="Google Shape;9935;p85">
            <a:extLst>
              <a:ext uri="{FF2B5EF4-FFF2-40B4-BE49-F238E27FC236}">
                <a16:creationId xmlns:a16="http://schemas.microsoft.com/office/drawing/2014/main" id="{84757A6E-E59A-3372-09DB-54D3A489A226}"/>
              </a:ext>
            </a:extLst>
          </p:cNvPr>
          <p:cNvGrpSpPr/>
          <p:nvPr/>
        </p:nvGrpSpPr>
        <p:grpSpPr>
          <a:xfrm>
            <a:off x="1216321" y="2000051"/>
            <a:ext cx="1325148" cy="1143397"/>
            <a:chOff x="6239575" y="4416275"/>
            <a:chExt cx="489625" cy="449175"/>
          </a:xfrm>
          <a:solidFill>
            <a:schemeClr val="accent2"/>
          </a:solidFill>
        </p:grpSpPr>
        <p:sp>
          <p:nvSpPr>
            <p:cNvPr id="5" name="Google Shape;9936;p85">
              <a:extLst>
                <a:ext uri="{FF2B5EF4-FFF2-40B4-BE49-F238E27FC236}">
                  <a16:creationId xmlns:a16="http://schemas.microsoft.com/office/drawing/2014/main" id="{6E2CA05D-F92D-23B7-B482-553E72DD78C9}"/>
                </a:ext>
              </a:extLst>
            </p:cNvPr>
            <p:cNvSpPr/>
            <p:nvPr/>
          </p:nvSpPr>
          <p:spPr>
            <a:xfrm>
              <a:off x="6239575" y="4416275"/>
              <a:ext cx="489625" cy="449175"/>
            </a:xfrm>
            <a:custGeom>
              <a:avLst/>
              <a:gdLst/>
              <a:ahLst/>
              <a:cxnLst/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" name="Google Shape;9937;p85">
              <a:extLst>
                <a:ext uri="{FF2B5EF4-FFF2-40B4-BE49-F238E27FC236}">
                  <a16:creationId xmlns:a16="http://schemas.microsoft.com/office/drawing/2014/main" id="{395B2ADC-085C-26D9-DED7-CBC11E600043}"/>
                </a:ext>
              </a:extLst>
            </p:cNvPr>
            <p:cNvSpPr/>
            <p:nvPr/>
          </p:nvSpPr>
          <p:spPr>
            <a:xfrm>
              <a:off x="6438550" y="4723875"/>
              <a:ext cx="88350" cy="84950"/>
            </a:xfrm>
            <a:custGeom>
              <a:avLst/>
              <a:gdLst/>
              <a:ahLst/>
              <a:cxnLst/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7" name="Google Shape;9938;p85">
              <a:extLst>
                <a:ext uri="{FF2B5EF4-FFF2-40B4-BE49-F238E27FC236}">
                  <a16:creationId xmlns:a16="http://schemas.microsoft.com/office/drawing/2014/main" id="{6A312EA9-9CAA-5E52-C8F8-447EE34ECB2A}"/>
                </a:ext>
              </a:extLst>
            </p:cNvPr>
            <p:cNvSpPr/>
            <p:nvPr/>
          </p:nvSpPr>
          <p:spPr>
            <a:xfrm>
              <a:off x="6441950" y="4497425"/>
              <a:ext cx="84950" cy="198250"/>
            </a:xfrm>
            <a:custGeom>
              <a:avLst/>
              <a:gdLst/>
              <a:ahLst/>
              <a:cxnLst/>
              <a:rect l="l" t="t" r="r" b="b"/>
              <a:pathLst>
                <a:path w="3398" h="7930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4656DEA7-90AB-F972-9C20-A2E00D4BFCDC}"/>
              </a:ext>
            </a:extLst>
          </p:cNvPr>
          <p:cNvSpPr txBox="1"/>
          <p:nvPr/>
        </p:nvSpPr>
        <p:spPr>
          <a:xfrm>
            <a:off x="633184" y="3594975"/>
            <a:ext cx="249142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00" i="1" dirty="0">
                <a:solidFill>
                  <a:schemeClr val="tx1"/>
                </a:solidFill>
              </a:rPr>
              <a:t>“People should be protected from unsafe or ineffective automated systems, and from discrimination by algorithms.”</a:t>
            </a:r>
          </a:p>
          <a:p>
            <a:pPr algn="r"/>
            <a:r>
              <a:rPr lang="en-GB" sz="1000" i="1" dirty="0">
                <a:solidFill>
                  <a:schemeClr val="tx1"/>
                </a:solidFill>
              </a:rPr>
              <a:t>- White House Blueprint for an AI Bill of Rights (2022)</a:t>
            </a:r>
          </a:p>
        </p:txBody>
      </p:sp>
    </p:spTree>
    <p:extLst>
      <p:ext uri="{BB962C8B-B14F-4D97-AF65-F5344CB8AC3E}">
        <p14:creationId xmlns:p14="http://schemas.microsoft.com/office/powerpoint/2010/main" val="2694470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" name="Google Shape;1464;p60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preprocessing overview</a:t>
            </a:r>
            <a:endParaRPr dirty="0"/>
          </a:p>
        </p:txBody>
      </p:sp>
      <p:sp>
        <p:nvSpPr>
          <p:cNvPr id="5" name="Google Shape;1122;p43">
            <a:extLst>
              <a:ext uri="{FF2B5EF4-FFF2-40B4-BE49-F238E27FC236}">
                <a16:creationId xmlns:a16="http://schemas.microsoft.com/office/drawing/2014/main" id="{A221FEB2-049E-657F-9CCE-BCEBC3934909}"/>
              </a:ext>
            </a:extLst>
          </p:cNvPr>
          <p:cNvSpPr txBox="1">
            <a:spLocks/>
          </p:cNvSpPr>
          <p:nvPr/>
        </p:nvSpPr>
        <p:spPr>
          <a:xfrm>
            <a:off x="801730" y="1237074"/>
            <a:ext cx="5793942" cy="3007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171450" indent="-171450"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1200"/>
              <a:buFont typeface="Arial" panose="020B0604020202020204" pitchFamily="34" charset="0"/>
              <a:buChar char="•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628650" indent="-171450">
              <a:spcBef>
                <a:spcPts val="600"/>
              </a:spcBef>
              <a:buClr>
                <a:schemeClr val="dk1"/>
              </a:buClr>
              <a:buSzPts val="1200"/>
              <a:buFont typeface="Arial" panose="020B0604020202020204" pitchFamily="34" charset="0"/>
              <a:buChar char="•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indent="-304800">
              <a:buClr>
                <a:schemeClr val="dk1"/>
              </a:buClr>
              <a:buSzPts val="1200"/>
              <a:buFont typeface="Maven Pro"/>
              <a:buNone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indent="-304800">
              <a:buClr>
                <a:schemeClr val="dk1"/>
              </a:buClr>
              <a:buSzPts val="1200"/>
              <a:buFont typeface="Maven Pro"/>
              <a:buNone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indent="-304800">
              <a:buClr>
                <a:schemeClr val="dk1"/>
              </a:buClr>
              <a:buSzPts val="1200"/>
              <a:buFont typeface="Maven Pro"/>
              <a:buNone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indent="-304800">
              <a:buClr>
                <a:schemeClr val="dk1"/>
              </a:buClr>
              <a:buSzPts val="1200"/>
              <a:buFont typeface="Maven Pro"/>
              <a:buNone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indent="-304800">
              <a:buClr>
                <a:schemeClr val="dk1"/>
              </a:buClr>
              <a:buSzPts val="1200"/>
              <a:buFont typeface="Maven Pro"/>
              <a:buNone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indent="-304800">
              <a:buClr>
                <a:schemeClr val="dk1"/>
              </a:buClr>
              <a:buSzPts val="1200"/>
              <a:buFont typeface="Maven Pro"/>
              <a:buNone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indent="-304800">
              <a:buClr>
                <a:schemeClr val="dk1"/>
              </a:buClr>
              <a:buSzPts val="1200"/>
              <a:buFont typeface="Maven Pro"/>
              <a:buNone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None/>
            </a:pPr>
            <a:r>
              <a:rPr lang="en" b="1" dirty="0"/>
              <a:t>Key Steps</a:t>
            </a:r>
          </a:p>
          <a:p>
            <a:r>
              <a:rPr lang="en" dirty="0"/>
              <a:t>Dropped the “instance_weight” column</a:t>
            </a:r>
          </a:p>
          <a:p>
            <a:r>
              <a:rPr lang="en" dirty="0"/>
              <a:t>Standardized categorical values: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" dirty="0"/>
              <a:t>String conversion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" dirty="0"/>
              <a:t>Whitespace trimming</a:t>
            </a:r>
          </a:p>
          <a:p>
            <a:r>
              <a:rPr lang="en" dirty="0"/>
              <a:t>Retained the “Not in universe” entries</a:t>
            </a:r>
          </a:p>
          <a:p>
            <a:r>
              <a:rPr lang="en" dirty="0"/>
              <a:t>For the models that require it, encoded as follows: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" dirty="0"/>
              <a:t>One-Hot encoding for low cardinality features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" dirty="0"/>
              <a:t>Target encoding for high cardinality features</a:t>
            </a:r>
          </a:p>
          <a:p>
            <a:pPr>
              <a:spcAft>
                <a:spcPts val="0"/>
              </a:spcAft>
            </a:pPr>
            <a:r>
              <a:rPr lang="en" dirty="0"/>
              <a:t>Normalized any numeric features using Z-score normalization</a:t>
            </a:r>
          </a:p>
        </p:txBody>
      </p:sp>
      <p:pic>
        <p:nvPicPr>
          <p:cNvPr id="3" name="Graphic 2" descr="Gears with solid fill">
            <a:extLst>
              <a:ext uri="{FF2B5EF4-FFF2-40B4-BE49-F238E27FC236}">
                <a16:creationId xmlns:a16="http://schemas.microsoft.com/office/drawing/2014/main" id="{8A461940-1D11-E87F-DD5D-2A84B71B6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95672" y="3226322"/>
            <a:ext cx="1526498" cy="1526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795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4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Modelling Approach</a:t>
            </a:r>
            <a:endParaRPr dirty="0"/>
          </a:p>
        </p:txBody>
      </p:sp>
      <p:sp>
        <p:nvSpPr>
          <p:cNvPr id="1167" name="Google Shape;1167;p46"/>
          <p:cNvSpPr txBox="1">
            <a:spLocks noGrp="1"/>
          </p:cNvSpPr>
          <p:nvPr>
            <p:ph type="subTitle" idx="1"/>
          </p:nvPr>
        </p:nvSpPr>
        <p:spPr>
          <a:xfrm>
            <a:off x="798552" y="286795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dirty="0"/>
              <a:t>Parametric model tailored for binary classification</a:t>
            </a:r>
          </a:p>
          <a:p>
            <a:pPr marL="171450" lvl="0" indent="-171450" algn="l" rtl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dirty="0"/>
              <a:t>Highly interpretable</a:t>
            </a:r>
          </a:p>
          <a:p>
            <a:pPr marL="171450" lvl="0" indent="-171450" algn="l" rtl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dirty="0"/>
              <a:t>Fast to train</a:t>
            </a:r>
          </a:p>
          <a:p>
            <a:pPr marL="171450" lvl="0" indent="-171450" algn="l" rtl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dirty="0"/>
              <a:t>Strong baseline for benchmarking</a:t>
            </a:r>
            <a:endParaRPr dirty="0"/>
          </a:p>
        </p:txBody>
      </p:sp>
      <p:sp>
        <p:nvSpPr>
          <p:cNvPr id="1168" name="Google Shape;1168;p46"/>
          <p:cNvSpPr txBox="1">
            <a:spLocks noGrp="1"/>
          </p:cNvSpPr>
          <p:nvPr>
            <p:ph type="subTitle" idx="2"/>
          </p:nvPr>
        </p:nvSpPr>
        <p:spPr>
          <a:xfrm>
            <a:off x="3377088" y="286795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dirty="0"/>
              <a:t>Ensemble of decision trees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dirty="0"/>
              <a:t>Captures non-linear relationships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dirty="0"/>
              <a:t>Flexible tuning via hyperparameters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dirty="0"/>
              <a:t>Robust to outliers</a:t>
            </a:r>
            <a:endParaRPr dirty="0"/>
          </a:p>
        </p:txBody>
      </p:sp>
      <p:sp>
        <p:nvSpPr>
          <p:cNvPr id="1169" name="Google Shape;1169;p46"/>
          <p:cNvSpPr txBox="1">
            <a:spLocks noGrp="1"/>
          </p:cNvSpPr>
          <p:nvPr>
            <p:ph type="subTitle" idx="3"/>
          </p:nvPr>
        </p:nvSpPr>
        <p:spPr>
          <a:xfrm>
            <a:off x="798552" y="256747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Logistic Regression</a:t>
            </a:r>
            <a:endParaRPr sz="1400" dirty="0"/>
          </a:p>
        </p:txBody>
      </p:sp>
      <p:sp>
        <p:nvSpPr>
          <p:cNvPr id="1170" name="Google Shape;1170;p46"/>
          <p:cNvSpPr txBox="1">
            <a:spLocks noGrp="1"/>
          </p:cNvSpPr>
          <p:nvPr>
            <p:ph type="subTitle" idx="4"/>
          </p:nvPr>
        </p:nvSpPr>
        <p:spPr>
          <a:xfrm>
            <a:off x="3377096" y="256747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Random Forest</a:t>
            </a:r>
            <a:endParaRPr sz="1400" dirty="0"/>
          </a:p>
        </p:txBody>
      </p:sp>
      <p:sp>
        <p:nvSpPr>
          <p:cNvPr id="1171" name="Google Shape;1171;p46"/>
          <p:cNvSpPr txBox="1">
            <a:spLocks noGrp="1"/>
          </p:cNvSpPr>
          <p:nvPr>
            <p:ph type="subTitle" idx="5"/>
          </p:nvPr>
        </p:nvSpPr>
        <p:spPr>
          <a:xfrm>
            <a:off x="5955640" y="286795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dirty="0"/>
              <a:t>Gradient boosting model </a:t>
            </a:r>
          </a:p>
          <a:p>
            <a:pPr marL="171450" lvl="0" indent="-171450" algn="l" rtl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dirty="0"/>
              <a:t>Optimised for categorical data</a:t>
            </a:r>
          </a:p>
          <a:p>
            <a:pPr marL="171450" lvl="0" indent="-171450" algn="l" rtl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dirty="0"/>
              <a:t>Does not require heavy preprocessing</a:t>
            </a:r>
          </a:p>
          <a:p>
            <a:pPr marL="171450" lvl="0" indent="-171450" algn="l" rtl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dirty="0"/>
              <a:t>Generalises well on test data</a:t>
            </a: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</a:pPr>
            <a:endParaRPr lang="en" dirty="0"/>
          </a:p>
        </p:txBody>
      </p:sp>
      <p:sp>
        <p:nvSpPr>
          <p:cNvPr id="1172" name="Google Shape;1172;p46"/>
          <p:cNvSpPr txBox="1">
            <a:spLocks noGrp="1"/>
          </p:cNvSpPr>
          <p:nvPr>
            <p:ph type="subTitle" idx="6"/>
          </p:nvPr>
        </p:nvSpPr>
        <p:spPr>
          <a:xfrm>
            <a:off x="5955648" y="256747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CatBoost</a:t>
            </a:r>
            <a:endParaRPr sz="1400" dirty="0"/>
          </a:p>
        </p:txBody>
      </p:sp>
      <p:sp>
        <p:nvSpPr>
          <p:cNvPr id="1173" name="Google Shape;1173;p46"/>
          <p:cNvSpPr/>
          <p:nvPr/>
        </p:nvSpPr>
        <p:spPr>
          <a:xfrm>
            <a:off x="908527" y="1590950"/>
            <a:ext cx="879000" cy="8790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174" name="Google Shape;1174;p46"/>
          <p:cNvSpPr/>
          <p:nvPr/>
        </p:nvSpPr>
        <p:spPr>
          <a:xfrm>
            <a:off x="3483889" y="1590950"/>
            <a:ext cx="879000" cy="8790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175" name="Google Shape;1175;p46"/>
          <p:cNvSpPr/>
          <p:nvPr/>
        </p:nvSpPr>
        <p:spPr>
          <a:xfrm>
            <a:off x="6059264" y="1590950"/>
            <a:ext cx="879000" cy="8790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B3C562-DEEC-A1BC-B8C5-7A005BC3E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12" y="1800681"/>
            <a:ext cx="473895" cy="4576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4E37BC3-34FF-E4E4-D6E5-E98B0CA5D3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3151" y="1726023"/>
            <a:ext cx="582108" cy="5686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38D3DD5-50FD-1791-55F3-9D98CF16C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8244" y="1775194"/>
            <a:ext cx="721040" cy="508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9679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p4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Which model performed best?</a:t>
            </a:r>
            <a:endParaRPr dirty="0"/>
          </a:p>
        </p:txBody>
      </p:sp>
      <p:sp>
        <p:nvSpPr>
          <p:cNvPr id="1121" name="Google Shape;1121;p43"/>
          <p:cNvSpPr txBox="1">
            <a:spLocks noGrp="1"/>
          </p:cNvSpPr>
          <p:nvPr>
            <p:ph type="subTitle" idx="1"/>
          </p:nvPr>
        </p:nvSpPr>
        <p:spPr>
          <a:xfrm>
            <a:off x="722375" y="2187936"/>
            <a:ext cx="2058555" cy="9024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Accuracy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Logistic Regression: 86%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Random Forest: 95%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CatBoost: 88%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A4723C-ACEE-E914-178D-71864D7C6D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5586" y="1656300"/>
            <a:ext cx="2173404" cy="25658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FDEBD03-BEB0-65FF-F1B0-09C0E2960D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3646" y="2933903"/>
            <a:ext cx="2120564" cy="7846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903AA37-9B73-01E4-CEE0-A4BA7BFD60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7655" y="2072984"/>
            <a:ext cx="2073802" cy="79068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81D5F4-FFC6-2DFE-EBC8-6FCA6A5FCCF4}"/>
              </a:ext>
            </a:extLst>
          </p:cNvPr>
          <p:cNvSpPr txBox="1"/>
          <p:nvPr/>
        </p:nvSpPr>
        <p:spPr>
          <a:xfrm>
            <a:off x="3139536" y="1378105"/>
            <a:ext cx="25855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solidFill>
                  <a:schemeClr val="dk1"/>
                </a:solidFill>
                <a:latin typeface="Maven Pro"/>
                <a:sym typeface="Maven Pro"/>
              </a:rPr>
              <a:t>CatBoost is the clear winner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2EFCFE-6AA0-8469-F3D9-07B9D4AEB721}"/>
              </a:ext>
            </a:extLst>
          </p:cNvPr>
          <p:cNvSpPr txBox="1"/>
          <p:nvPr/>
        </p:nvSpPr>
        <p:spPr>
          <a:xfrm>
            <a:off x="5871804" y="1795985"/>
            <a:ext cx="25855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solidFill>
                  <a:schemeClr val="dk1"/>
                </a:solidFill>
                <a:latin typeface="Maven Pro"/>
                <a:sym typeface="Maven Pro"/>
              </a:rPr>
              <a:t>Overfitting is not a concern</a:t>
            </a:r>
          </a:p>
        </p:txBody>
      </p:sp>
      <p:sp>
        <p:nvSpPr>
          <p:cNvPr id="13" name="Google Shape;1121;p43">
            <a:extLst>
              <a:ext uri="{FF2B5EF4-FFF2-40B4-BE49-F238E27FC236}">
                <a16:creationId xmlns:a16="http://schemas.microsoft.com/office/drawing/2014/main" id="{04C72F92-005E-D39D-259C-841DFE60FA0A}"/>
              </a:ext>
            </a:extLst>
          </p:cNvPr>
          <p:cNvSpPr txBox="1">
            <a:spLocks/>
          </p:cNvSpPr>
          <p:nvPr/>
        </p:nvSpPr>
        <p:spPr>
          <a:xfrm>
            <a:off x="722375" y="3090378"/>
            <a:ext cx="2058555" cy="547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/>
            <a:r>
              <a:rPr lang="en" b="1" dirty="0"/>
              <a:t>..but this does not paint the bigger picture!</a:t>
            </a:r>
            <a:endParaRPr lang="e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DDB0316-9F97-C979-F940-18627634D000}"/>
              </a:ext>
            </a:extLst>
          </p:cNvPr>
          <p:cNvSpPr/>
          <p:nvPr/>
        </p:nvSpPr>
        <p:spPr>
          <a:xfrm>
            <a:off x="4057338" y="2020518"/>
            <a:ext cx="679554" cy="10493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B635E3-A31B-DC6F-0D12-E2E581ED359D}"/>
              </a:ext>
            </a:extLst>
          </p:cNvPr>
          <p:cNvSpPr/>
          <p:nvPr/>
        </p:nvSpPr>
        <p:spPr>
          <a:xfrm>
            <a:off x="4057338" y="2863670"/>
            <a:ext cx="679554" cy="10493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64FBA3-8777-8435-8106-CCEDE0816170}"/>
              </a:ext>
            </a:extLst>
          </p:cNvPr>
          <p:cNvSpPr/>
          <p:nvPr/>
        </p:nvSpPr>
        <p:spPr>
          <a:xfrm>
            <a:off x="4057338" y="3718562"/>
            <a:ext cx="679554" cy="10493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5499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 animBg="1"/>
      <p:bldP spid="15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p4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drives high income in the model?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72CB50-E264-BC13-9F73-B869CC460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82" y="1178298"/>
            <a:ext cx="3429774" cy="3230684"/>
          </a:xfrm>
          <a:prstGeom prst="rect">
            <a:avLst/>
          </a:prstGeom>
        </p:spPr>
      </p:pic>
      <p:sp>
        <p:nvSpPr>
          <p:cNvPr id="12" name="Google Shape;1122;p43">
            <a:extLst>
              <a:ext uri="{FF2B5EF4-FFF2-40B4-BE49-F238E27FC236}">
                <a16:creationId xmlns:a16="http://schemas.microsoft.com/office/drawing/2014/main" id="{B2FF40EB-CC14-8DA5-09D1-6D2F7FE916C8}"/>
              </a:ext>
            </a:extLst>
          </p:cNvPr>
          <p:cNvSpPr txBox="1">
            <a:spLocks/>
          </p:cNvSpPr>
          <p:nvPr/>
        </p:nvSpPr>
        <p:spPr>
          <a:xfrm>
            <a:off x="4393301" y="1178298"/>
            <a:ext cx="4206057" cy="3230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171450" indent="-171450"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1200"/>
              <a:buFont typeface="Arial" panose="020B0604020202020204" pitchFamily="34" charset="0"/>
              <a:buChar char="•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628650" indent="-171450">
              <a:spcBef>
                <a:spcPts val="600"/>
              </a:spcBef>
              <a:buClr>
                <a:schemeClr val="dk1"/>
              </a:buClr>
              <a:buSzPts val="1200"/>
              <a:buFont typeface="Arial" panose="020B0604020202020204" pitchFamily="34" charset="0"/>
              <a:buChar char="•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indent="-304800">
              <a:buClr>
                <a:schemeClr val="dk1"/>
              </a:buClr>
              <a:buSzPts val="1200"/>
              <a:buFont typeface="Maven Pro"/>
              <a:buNone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indent="-304800">
              <a:buClr>
                <a:schemeClr val="dk1"/>
              </a:buClr>
              <a:buSzPts val="1200"/>
              <a:buFont typeface="Maven Pro"/>
              <a:buNone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indent="-304800">
              <a:buClr>
                <a:schemeClr val="dk1"/>
              </a:buClr>
              <a:buSzPts val="1200"/>
              <a:buFont typeface="Maven Pro"/>
              <a:buNone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indent="-304800">
              <a:buClr>
                <a:schemeClr val="dk1"/>
              </a:buClr>
              <a:buSzPts val="1200"/>
              <a:buFont typeface="Maven Pro"/>
              <a:buNone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indent="-304800">
              <a:buClr>
                <a:schemeClr val="dk1"/>
              </a:buClr>
              <a:buSzPts val="1200"/>
              <a:buFont typeface="Maven Pro"/>
              <a:buNone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indent="-304800">
              <a:buClr>
                <a:schemeClr val="dk1"/>
              </a:buClr>
              <a:buSzPts val="1200"/>
              <a:buFont typeface="Maven Pro"/>
              <a:buNone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indent="-304800">
              <a:buClr>
                <a:schemeClr val="dk1"/>
              </a:buClr>
              <a:buSzPts val="1200"/>
              <a:buFont typeface="Maven Pro"/>
              <a:buNone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None/>
            </a:pPr>
            <a:r>
              <a:rPr lang="en" b="1" dirty="0"/>
              <a:t>The top five features in terms of importance for the model are: </a:t>
            </a:r>
          </a:p>
          <a:p>
            <a:r>
              <a:rPr lang="en" dirty="0"/>
              <a:t>Age</a:t>
            </a:r>
          </a:p>
          <a:p>
            <a:r>
              <a:rPr lang="en" dirty="0"/>
              <a:t>Weeks worked (within the last year)</a:t>
            </a:r>
          </a:p>
          <a:p>
            <a:r>
              <a:rPr lang="en" dirty="0"/>
              <a:t>Tax filer status</a:t>
            </a:r>
          </a:p>
          <a:p>
            <a:r>
              <a:rPr lang="en" dirty="0"/>
              <a:t>Education</a:t>
            </a:r>
          </a:p>
          <a:p>
            <a:r>
              <a:rPr lang="en" dirty="0"/>
              <a:t>Sex</a:t>
            </a:r>
          </a:p>
          <a:p>
            <a:pPr marL="0" indent="0">
              <a:buNone/>
            </a:pPr>
            <a:r>
              <a:rPr lang="en" dirty="0"/>
              <a:t>These are largely in line with the observations from the initial EDA</a:t>
            </a:r>
          </a:p>
          <a:p>
            <a:pPr marL="0" indent="0">
              <a:buNone/>
            </a:pPr>
            <a:r>
              <a:rPr lang="en" b="1" dirty="0"/>
              <a:t>But how do these features impact the output?</a:t>
            </a:r>
          </a:p>
          <a:p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6592234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ACB02-E2EC-23F6-EC2E-68B654D85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400" y="424576"/>
            <a:ext cx="7699200" cy="572700"/>
          </a:xfrm>
        </p:spPr>
        <p:txBody>
          <a:bodyPr/>
          <a:lstStyle/>
          <a:p>
            <a:r>
              <a:rPr lang="en-GB" dirty="0"/>
              <a:t>Visualizing the impact (1)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61C1B8C-F209-55A8-470C-72413A5B2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289" y="1243987"/>
            <a:ext cx="2375641" cy="30653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BE02CF-97ED-C673-C9AB-0A7EA55EF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6518" y="1243987"/>
            <a:ext cx="2460274" cy="3063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570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ACB02-E2EC-23F6-EC2E-68B654D85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400" y="424576"/>
            <a:ext cx="7699200" cy="572700"/>
          </a:xfrm>
        </p:spPr>
        <p:txBody>
          <a:bodyPr/>
          <a:lstStyle/>
          <a:p>
            <a:r>
              <a:rPr lang="en-GB" dirty="0"/>
              <a:t>Visualizing the impact (2)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07B6768-69B7-9EA3-A93B-2AC6EB3DE5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293" y="1200724"/>
            <a:ext cx="2900074" cy="307802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F011FA4-D29D-09E6-C922-0FCF61776B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0463" y="1202682"/>
            <a:ext cx="2383949" cy="307606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9668BD7-D0BD-AFBF-CAEE-C7B3B1E923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120" y="1200724"/>
            <a:ext cx="2790478" cy="3073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47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E773C-DEC5-80D5-1798-2C0148320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 &amp; future 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0AF610-1A60-490B-8065-3A0745C8B3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6475" y="1282314"/>
            <a:ext cx="3516600" cy="300987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GB" b="1" dirty="0"/>
              <a:t>Limitations</a:t>
            </a:r>
          </a:p>
          <a:p>
            <a:pPr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dirty="0"/>
              <a:t>Protected characteristics </a:t>
            </a:r>
            <a:r>
              <a:rPr lang="en-GB" dirty="0"/>
              <a:t>included in the analysis but would likely not be used in a production setting for any inference</a:t>
            </a:r>
          </a:p>
          <a:p>
            <a:pPr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The </a:t>
            </a:r>
            <a:r>
              <a:rPr lang="en-GB" b="1" dirty="0"/>
              <a:t>binary target</a:t>
            </a:r>
            <a:r>
              <a:rPr lang="en-GB" dirty="0"/>
              <a:t> limitation: modelling a more granular target (either buckets of income or numerical values) might uncover more nuanced relationships in the data</a:t>
            </a:r>
          </a:p>
          <a:p>
            <a:pPr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dirty="0"/>
              <a:t>Correlation does not equal causatio</a:t>
            </a:r>
            <a:r>
              <a:rPr lang="en-GB" dirty="0"/>
              <a:t>n – the underlying cause-and-effect relationships will need to be examined to eliminate the risk of making discriminatory and costly decisions 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34695E8B-C81C-3C06-C99E-D4EABDE289A1}"/>
              </a:ext>
            </a:extLst>
          </p:cNvPr>
          <p:cNvSpPr txBox="1">
            <a:spLocks/>
          </p:cNvSpPr>
          <p:nvPr/>
        </p:nvSpPr>
        <p:spPr>
          <a:xfrm>
            <a:off x="4571975" y="1282314"/>
            <a:ext cx="3516600" cy="3009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>
              <a:spcAft>
                <a:spcPts val="600"/>
              </a:spcAft>
            </a:pPr>
            <a:r>
              <a:rPr lang="en-GB" b="1" dirty="0"/>
              <a:t>Future work</a:t>
            </a:r>
          </a:p>
          <a:p>
            <a:pPr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Undertake further </a:t>
            </a:r>
            <a:r>
              <a:rPr lang="en-GB" b="1" dirty="0"/>
              <a:t>feature engineering </a:t>
            </a:r>
            <a:r>
              <a:rPr lang="en-GB" dirty="0"/>
              <a:t>(e.g. buckets for high cardinality categorical features, log transforms for outliers)</a:t>
            </a:r>
          </a:p>
          <a:p>
            <a:pPr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Improve </a:t>
            </a:r>
            <a:r>
              <a:rPr lang="en-GB" dirty="0" err="1"/>
              <a:t>CatBoost’s</a:t>
            </a:r>
            <a:r>
              <a:rPr lang="en-GB" dirty="0"/>
              <a:t> performance by </a:t>
            </a:r>
            <a:r>
              <a:rPr lang="en-GB" b="1" dirty="0"/>
              <a:t>hyperparameter tuning</a:t>
            </a:r>
          </a:p>
          <a:p>
            <a:pPr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Productionize the notebook code into </a:t>
            </a:r>
            <a:r>
              <a:rPr lang="en-GB" b="1" dirty="0"/>
              <a:t>reproducible and tested pipelines </a:t>
            </a:r>
            <a:r>
              <a:rPr lang="en-GB" dirty="0"/>
              <a:t>(incl. data refresh, training, prediction and monitoring)</a:t>
            </a:r>
          </a:p>
          <a:p>
            <a:pPr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Use </a:t>
            </a:r>
            <a:r>
              <a:rPr lang="en-GB" b="1" dirty="0"/>
              <a:t>Data Science Studio </a:t>
            </a:r>
            <a:r>
              <a:rPr lang="en-GB" dirty="0"/>
              <a:t>to create a monitoring dashboard and deploy the model as an API endpoint for inference</a:t>
            </a:r>
          </a:p>
        </p:txBody>
      </p:sp>
    </p:spTree>
    <p:extLst>
      <p:ext uri="{BB962C8B-B14F-4D97-AF65-F5344CB8AC3E}">
        <p14:creationId xmlns:p14="http://schemas.microsoft.com/office/powerpoint/2010/main" val="12485969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Google Shape;1258;p49"/>
          <p:cNvSpPr txBox="1">
            <a:spLocks noGrp="1"/>
          </p:cNvSpPr>
          <p:nvPr>
            <p:ph type="title"/>
          </p:nvPr>
        </p:nvSpPr>
        <p:spPr>
          <a:xfrm>
            <a:off x="1892300" y="1524000"/>
            <a:ext cx="5359500" cy="209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dirty="0"/>
              <a:t>Questions</a:t>
            </a:r>
            <a:endParaRPr sz="6000" b="0" dirty="0"/>
          </a:p>
        </p:txBody>
      </p:sp>
      <p:grpSp>
        <p:nvGrpSpPr>
          <p:cNvPr id="1259" name="Google Shape;1259;p49"/>
          <p:cNvGrpSpPr/>
          <p:nvPr/>
        </p:nvGrpSpPr>
        <p:grpSpPr>
          <a:xfrm>
            <a:off x="-414699" y="2121375"/>
            <a:ext cx="2206575" cy="3022125"/>
            <a:chOff x="-414699" y="2121375"/>
            <a:chExt cx="2206575" cy="3022125"/>
          </a:xfrm>
        </p:grpSpPr>
        <p:sp>
          <p:nvSpPr>
            <p:cNvPr id="1260" name="Google Shape;1260;p49"/>
            <p:cNvSpPr/>
            <p:nvPr/>
          </p:nvSpPr>
          <p:spPr>
            <a:xfrm>
              <a:off x="-6624" y="3551700"/>
              <a:ext cx="1798500" cy="15918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261" name="Google Shape;1261;p49"/>
            <p:cNvSpPr/>
            <p:nvPr/>
          </p:nvSpPr>
          <p:spPr>
            <a:xfrm flipH="1">
              <a:off x="-414699" y="475545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1262" name="Google Shape;1262;p49"/>
            <p:cNvGrpSpPr/>
            <p:nvPr/>
          </p:nvGrpSpPr>
          <p:grpSpPr>
            <a:xfrm flipH="1">
              <a:off x="229314" y="2121375"/>
              <a:ext cx="986125" cy="2095500"/>
              <a:chOff x="7631225" y="2241175"/>
              <a:chExt cx="986125" cy="2095500"/>
            </a:xfrm>
          </p:grpSpPr>
          <p:cxnSp>
            <p:nvCxnSpPr>
              <p:cNvPr id="1263" name="Google Shape;1263;p49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64" name="Google Shape;1264;p49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65" name="Google Shape;1265;p49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66" name="Google Shape;1266;p49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67" name="Google Shape;1267;p49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68" name="Google Shape;1268;p49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69" name="Google Shape;1269;p49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70" name="Google Shape;1270;p49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71" name="Google Shape;1271;p49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72" name="Google Shape;1272;p49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73" name="Google Shape;1273;p49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74" name="Google Shape;1274;p49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75" name="Google Shape;1275;p49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76" name="Google Shape;1276;p49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277" name="Google Shape;1277;p49"/>
          <p:cNvSpPr/>
          <p:nvPr/>
        </p:nvSpPr>
        <p:spPr>
          <a:xfrm rot="5400000" flipH="1">
            <a:off x="570514" y="-1203225"/>
            <a:ext cx="2325825" cy="2325825"/>
          </a:xfrm>
          <a:custGeom>
            <a:avLst/>
            <a:gdLst/>
            <a:ahLst/>
            <a:cxnLst/>
            <a:rect l="l" t="t" r="r" b="b"/>
            <a:pathLst>
              <a:path w="93033" h="93033" extrusionOk="0">
                <a:moveTo>
                  <a:pt x="89685" y="61054"/>
                </a:moveTo>
                <a:lnTo>
                  <a:pt x="89685" y="63796"/>
                </a:lnTo>
                <a:lnTo>
                  <a:pt x="89927" y="63150"/>
                </a:lnTo>
                <a:lnTo>
                  <a:pt x="89927" y="61054"/>
                </a:lnTo>
                <a:lnTo>
                  <a:pt x="90693" y="61054"/>
                </a:lnTo>
                <a:cubicBezTo>
                  <a:pt x="90733" y="60973"/>
                  <a:pt x="90733" y="60892"/>
                  <a:pt x="90774" y="60812"/>
                </a:cubicBezTo>
                <a:lnTo>
                  <a:pt x="89927" y="60812"/>
                </a:lnTo>
                <a:lnTo>
                  <a:pt x="89927" y="56255"/>
                </a:lnTo>
                <a:lnTo>
                  <a:pt x="91984" y="56255"/>
                </a:lnTo>
                <a:cubicBezTo>
                  <a:pt x="92024" y="56174"/>
                  <a:pt x="92024" y="56093"/>
                  <a:pt x="92064" y="56013"/>
                </a:cubicBezTo>
                <a:lnTo>
                  <a:pt x="89927" y="56013"/>
                </a:lnTo>
                <a:lnTo>
                  <a:pt x="89927" y="51456"/>
                </a:lnTo>
                <a:lnTo>
                  <a:pt x="92750" y="51456"/>
                </a:lnTo>
                <a:cubicBezTo>
                  <a:pt x="92750" y="51375"/>
                  <a:pt x="92790" y="51295"/>
                  <a:pt x="92790" y="51174"/>
                </a:cubicBezTo>
                <a:lnTo>
                  <a:pt x="89927" y="51174"/>
                </a:lnTo>
                <a:lnTo>
                  <a:pt x="89927" y="46617"/>
                </a:lnTo>
                <a:lnTo>
                  <a:pt x="93032" y="46617"/>
                </a:lnTo>
                <a:lnTo>
                  <a:pt x="93032" y="46496"/>
                </a:lnTo>
                <a:lnTo>
                  <a:pt x="93032" y="46375"/>
                </a:lnTo>
                <a:lnTo>
                  <a:pt x="89927" y="46375"/>
                </a:lnTo>
                <a:lnTo>
                  <a:pt x="89927" y="41818"/>
                </a:lnTo>
                <a:lnTo>
                  <a:pt x="92790" y="41818"/>
                </a:lnTo>
                <a:cubicBezTo>
                  <a:pt x="92790" y="41737"/>
                  <a:pt x="92750" y="41657"/>
                  <a:pt x="92750" y="41576"/>
                </a:cubicBezTo>
                <a:lnTo>
                  <a:pt x="89927" y="41576"/>
                </a:lnTo>
                <a:lnTo>
                  <a:pt x="89927" y="36979"/>
                </a:lnTo>
                <a:lnTo>
                  <a:pt x="92064" y="36979"/>
                </a:lnTo>
                <a:cubicBezTo>
                  <a:pt x="92024" y="36898"/>
                  <a:pt x="92024" y="36818"/>
                  <a:pt x="91984" y="36737"/>
                </a:cubicBezTo>
                <a:lnTo>
                  <a:pt x="89927" y="36737"/>
                </a:lnTo>
                <a:lnTo>
                  <a:pt x="89927" y="32180"/>
                </a:lnTo>
                <a:lnTo>
                  <a:pt x="90774" y="32180"/>
                </a:lnTo>
                <a:cubicBezTo>
                  <a:pt x="90733" y="32099"/>
                  <a:pt x="90733" y="32019"/>
                  <a:pt x="90693" y="31938"/>
                </a:cubicBezTo>
                <a:lnTo>
                  <a:pt x="89927" y="31938"/>
                </a:lnTo>
                <a:lnTo>
                  <a:pt x="89927" y="29841"/>
                </a:lnTo>
                <a:lnTo>
                  <a:pt x="89685" y="29196"/>
                </a:lnTo>
                <a:lnTo>
                  <a:pt x="89685" y="31938"/>
                </a:lnTo>
                <a:lnTo>
                  <a:pt x="85128" y="31938"/>
                </a:lnTo>
                <a:lnTo>
                  <a:pt x="85128" y="27381"/>
                </a:lnTo>
                <a:lnTo>
                  <a:pt x="88919" y="27381"/>
                </a:lnTo>
                <a:cubicBezTo>
                  <a:pt x="88879" y="27301"/>
                  <a:pt x="88838" y="27220"/>
                  <a:pt x="88798" y="27139"/>
                </a:cubicBezTo>
                <a:lnTo>
                  <a:pt x="85128" y="27139"/>
                </a:lnTo>
                <a:lnTo>
                  <a:pt x="85128" y="22542"/>
                </a:lnTo>
                <a:lnTo>
                  <a:pt x="86378" y="22542"/>
                </a:lnTo>
                <a:cubicBezTo>
                  <a:pt x="86338" y="22462"/>
                  <a:pt x="86298" y="22381"/>
                  <a:pt x="86257" y="22300"/>
                </a:cubicBezTo>
                <a:lnTo>
                  <a:pt x="85128" y="22300"/>
                </a:lnTo>
                <a:lnTo>
                  <a:pt x="85128" y="20566"/>
                </a:lnTo>
                <a:cubicBezTo>
                  <a:pt x="85048" y="20445"/>
                  <a:pt x="84967" y="20324"/>
                  <a:pt x="84886" y="20203"/>
                </a:cubicBezTo>
                <a:lnTo>
                  <a:pt x="84886" y="22300"/>
                </a:lnTo>
                <a:lnTo>
                  <a:pt x="80329" y="22300"/>
                </a:lnTo>
                <a:lnTo>
                  <a:pt x="80329" y="17743"/>
                </a:lnTo>
                <a:lnTo>
                  <a:pt x="83072" y="17743"/>
                </a:lnTo>
                <a:lnTo>
                  <a:pt x="82870" y="17501"/>
                </a:lnTo>
                <a:lnTo>
                  <a:pt x="80329" y="17501"/>
                </a:lnTo>
                <a:lnTo>
                  <a:pt x="80329" y="14558"/>
                </a:lnTo>
                <a:lnTo>
                  <a:pt x="80087" y="14316"/>
                </a:lnTo>
                <a:lnTo>
                  <a:pt x="80087" y="17501"/>
                </a:lnTo>
                <a:lnTo>
                  <a:pt x="75490" y="17501"/>
                </a:lnTo>
                <a:lnTo>
                  <a:pt x="75490" y="12945"/>
                </a:lnTo>
                <a:lnTo>
                  <a:pt x="78716" y="12945"/>
                </a:lnTo>
                <a:lnTo>
                  <a:pt x="78434" y="12703"/>
                </a:lnTo>
                <a:lnTo>
                  <a:pt x="75490" y="12703"/>
                </a:lnTo>
                <a:lnTo>
                  <a:pt x="75490" y="10122"/>
                </a:lnTo>
                <a:lnTo>
                  <a:pt x="75248" y="9920"/>
                </a:lnTo>
                <a:lnTo>
                  <a:pt x="75248" y="12703"/>
                </a:lnTo>
                <a:lnTo>
                  <a:pt x="70691" y="12703"/>
                </a:lnTo>
                <a:lnTo>
                  <a:pt x="70691" y="8106"/>
                </a:lnTo>
                <a:lnTo>
                  <a:pt x="72788" y="8106"/>
                </a:lnTo>
                <a:cubicBezTo>
                  <a:pt x="72667" y="8025"/>
                  <a:pt x="72546" y="7944"/>
                  <a:pt x="72425" y="7864"/>
                </a:cubicBezTo>
                <a:lnTo>
                  <a:pt x="70691" y="7864"/>
                </a:lnTo>
                <a:lnTo>
                  <a:pt x="70691" y="6775"/>
                </a:lnTo>
                <a:cubicBezTo>
                  <a:pt x="70611" y="6694"/>
                  <a:pt x="70530" y="6654"/>
                  <a:pt x="70450" y="6613"/>
                </a:cubicBezTo>
                <a:lnTo>
                  <a:pt x="70450" y="7864"/>
                </a:lnTo>
                <a:lnTo>
                  <a:pt x="65893" y="7864"/>
                </a:lnTo>
                <a:lnTo>
                  <a:pt x="65893" y="4194"/>
                </a:lnTo>
                <a:cubicBezTo>
                  <a:pt x="65812" y="4154"/>
                  <a:pt x="65731" y="4113"/>
                  <a:pt x="65651" y="4073"/>
                </a:cubicBezTo>
                <a:lnTo>
                  <a:pt x="65651" y="7864"/>
                </a:lnTo>
                <a:lnTo>
                  <a:pt x="61054" y="7864"/>
                </a:lnTo>
                <a:lnTo>
                  <a:pt x="61054" y="3307"/>
                </a:lnTo>
                <a:lnTo>
                  <a:pt x="63796" y="3307"/>
                </a:lnTo>
                <a:lnTo>
                  <a:pt x="63191" y="3065"/>
                </a:lnTo>
                <a:lnTo>
                  <a:pt x="61054" y="3065"/>
                </a:lnTo>
                <a:lnTo>
                  <a:pt x="61054" y="2339"/>
                </a:lnTo>
                <a:cubicBezTo>
                  <a:pt x="60973" y="2299"/>
                  <a:pt x="60892" y="2258"/>
                  <a:pt x="60812" y="2258"/>
                </a:cubicBezTo>
                <a:lnTo>
                  <a:pt x="60812" y="3065"/>
                </a:lnTo>
                <a:lnTo>
                  <a:pt x="56255" y="3065"/>
                </a:lnTo>
                <a:lnTo>
                  <a:pt x="56255" y="1048"/>
                </a:lnTo>
                <a:cubicBezTo>
                  <a:pt x="56174" y="1008"/>
                  <a:pt x="56093" y="1008"/>
                  <a:pt x="56013" y="968"/>
                </a:cubicBezTo>
                <a:lnTo>
                  <a:pt x="56013" y="3065"/>
                </a:lnTo>
                <a:lnTo>
                  <a:pt x="51456" y="3065"/>
                </a:lnTo>
                <a:lnTo>
                  <a:pt x="51456" y="282"/>
                </a:lnTo>
                <a:cubicBezTo>
                  <a:pt x="51375" y="242"/>
                  <a:pt x="51295" y="242"/>
                  <a:pt x="51214" y="242"/>
                </a:cubicBezTo>
                <a:lnTo>
                  <a:pt x="51214" y="3065"/>
                </a:lnTo>
                <a:lnTo>
                  <a:pt x="46617" y="3065"/>
                </a:lnTo>
                <a:lnTo>
                  <a:pt x="46617" y="0"/>
                </a:lnTo>
                <a:lnTo>
                  <a:pt x="46496" y="0"/>
                </a:lnTo>
                <a:lnTo>
                  <a:pt x="46375" y="0"/>
                </a:lnTo>
                <a:lnTo>
                  <a:pt x="46375" y="3065"/>
                </a:lnTo>
                <a:lnTo>
                  <a:pt x="41818" y="3065"/>
                </a:lnTo>
                <a:lnTo>
                  <a:pt x="41818" y="242"/>
                </a:lnTo>
                <a:cubicBezTo>
                  <a:pt x="41737" y="242"/>
                  <a:pt x="41657" y="242"/>
                  <a:pt x="41576" y="242"/>
                </a:cubicBezTo>
                <a:lnTo>
                  <a:pt x="41576" y="3065"/>
                </a:lnTo>
                <a:lnTo>
                  <a:pt x="37019" y="3065"/>
                </a:lnTo>
                <a:lnTo>
                  <a:pt x="37019" y="968"/>
                </a:lnTo>
                <a:cubicBezTo>
                  <a:pt x="36939" y="1008"/>
                  <a:pt x="36858" y="1008"/>
                  <a:pt x="36777" y="1008"/>
                </a:cubicBezTo>
                <a:lnTo>
                  <a:pt x="36777" y="3065"/>
                </a:lnTo>
                <a:lnTo>
                  <a:pt x="32180" y="3065"/>
                </a:lnTo>
                <a:lnTo>
                  <a:pt x="32180" y="2258"/>
                </a:lnTo>
                <a:cubicBezTo>
                  <a:pt x="32099" y="2258"/>
                  <a:pt x="32019" y="2299"/>
                  <a:pt x="31938" y="2339"/>
                </a:cubicBezTo>
                <a:lnTo>
                  <a:pt x="31938" y="3065"/>
                </a:lnTo>
                <a:lnTo>
                  <a:pt x="29841" y="3065"/>
                </a:lnTo>
                <a:lnTo>
                  <a:pt x="29236" y="3307"/>
                </a:lnTo>
                <a:lnTo>
                  <a:pt x="31938" y="3307"/>
                </a:lnTo>
                <a:lnTo>
                  <a:pt x="31938" y="7904"/>
                </a:lnTo>
                <a:lnTo>
                  <a:pt x="27381" y="7904"/>
                </a:lnTo>
                <a:lnTo>
                  <a:pt x="27381" y="4113"/>
                </a:lnTo>
                <a:cubicBezTo>
                  <a:pt x="27301" y="4154"/>
                  <a:pt x="27220" y="4194"/>
                  <a:pt x="27139" y="4234"/>
                </a:cubicBezTo>
                <a:lnTo>
                  <a:pt x="27139" y="7904"/>
                </a:lnTo>
                <a:lnTo>
                  <a:pt x="22542" y="7904"/>
                </a:lnTo>
                <a:lnTo>
                  <a:pt x="22542" y="6613"/>
                </a:lnTo>
                <a:cubicBezTo>
                  <a:pt x="22462" y="6694"/>
                  <a:pt x="22381" y="6734"/>
                  <a:pt x="22300" y="6775"/>
                </a:cubicBezTo>
                <a:lnTo>
                  <a:pt x="22300" y="7904"/>
                </a:lnTo>
                <a:lnTo>
                  <a:pt x="20566" y="7904"/>
                </a:lnTo>
                <a:cubicBezTo>
                  <a:pt x="20445" y="7985"/>
                  <a:pt x="20324" y="8065"/>
                  <a:pt x="20203" y="8146"/>
                </a:cubicBezTo>
                <a:lnTo>
                  <a:pt x="22300" y="8146"/>
                </a:lnTo>
                <a:lnTo>
                  <a:pt x="22300" y="12703"/>
                </a:lnTo>
                <a:lnTo>
                  <a:pt x="17743" y="12703"/>
                </a:lnTo>
                <a:lnTo>
                  <a:pt x="17743" y="9961"/>
                </a:lnTo>
                <a:lnTo>
                  <a:pt x="17501" y="10162"/>
                </a:lnTo>
                <a:lnTo>
                  <a:pt x="17501" y="12703"/>
                </a:lnTo>
                <a:lnTo>
                  <a:pt x="14558" y="12703"/>
                </a:lnTo>
                <a:lnTo>
                  <a:pt x="14316" y="12945"/>
                </a:lnTo>
                <a:lnTo>
                  <a:pt x="17501" y="12945"/>
                </a:lnTo>
                <a:lnTo>
                  <a:pt x="17501" y="17542"/>
                </a:lnTo>
                <a:lnTo>
                  <a:pt x="12945" y="17542"/>
                </a:lnTo>
                <a:lnTo>
                  <a:pt x="12945" y="14316"/>
                </a:lnTo>
                <a:lnTo>
                  <a:pt x="12703" y="14598"/>
                </a:lnTo>
                <a:lnTo>
                  <a:pt x="12703" y="17542"/>
                </a:lnTo>
                <a:lnTo>
                  <a:pt x="10122" y="17542"/>
                </a:lnTo>
                <a:lnTo>
                  <a:pt x="9920" y="17784"/>
                </a:lnTo>
                <a:lnTo>
                  <a:pt x="12703" y="17784"/>
                </a:lnTo>
                <a:lnTo>
                  <a:pt x="12703" y="22341"/>
                </a:lnTo>
                <a:lnTo>
                  <a:pt x="8106" y="22341"/>
                </a:lnTo>
                <a:lnTo>
                  <a:pt x="8106" y="20244"/>
                </a:lnTo>
                <a:cubicBezTo>
                  <a:pt x="8025" y="20365"/>
                  <a:pt x="7944" y="20486"/>
                  <a:pt x="7864" y="20607"/>
                </a:cubicBezTo>
                <a:lnTo>
                  <a:pt x="7864" y="22341"/>
                </a:lnTo>
                <a:lnTo>
                  <a:pt x="6775" y="22341"/>
                </a:lnTo>
                <a:cubicBezTo>
                  <a:pt x="6694" y="22421"/>
                  <a:pt x="6654" y="22502"/>
                  <a:pt x="6613" y="22583"/>
                </a:cubicBezTo>
                <a:lnTo>
                  <a:pt x="7864" y="22583"/>
                </a:lnTo>
                <a:lnTo>
                  <a:pt x="7864" y="27139"/>
                </a:lnTo>
                <a:lnTo>
                  <a:pt x="4194" y="27139"/>
                </a:lnTo>
                <a:cubicBezTo>
                  <a:pt x="4154" y="27220"/>
                  <a:pt x="4113" y="27301"/>
                  <a:pt x="4073" y="27381"/>
                </a:cubicBezTo>
                <a:lnTo>
                  <a:pt x="7864" y="27381"/>
                </a:lnTo>
                <a:lnTo>
                  <a:pt x="7864" y="31978"/>
                </a:lnTo>
                <a:lnTo>
                  <a:pt x="3307" y="31978"/>
                </a:lnTo>
                <a:lnTo>
                  <a:pt x="3307" y="29236"/>
                </a:lnTo>
                <a:lnTo>
                  <a:pt x="3065" y="29841"/>
                </a:lnTo>
                <a:lnTo>
                  <a:pt x="3065" y="31978"/>
                </a:lnTo>
                <a:lnTo>
                  <a:pt x="2299" y="31978"/>
                </a:lnTo>
                <a:cubicBezTo>
                  <a:pt x="2299" y="32059"/>
                  <a:pt x="2258" y="32140"/>
                  <a:pt x="2218" y="32220"/>
                </a:cubicBezTo>
                <a:lnTo>
                  <a:pt x="3065" y="32220"/>
                </a:lnTo>
                <a:lnTo>
                  <a:pt x="3065" y="36777"/>
                </a:lnTo>
                <a:lnTo>
                  <a:pt x="1008" y="36777"/>
                </a:lnTo>
                <a:cubicBezTo>
                  <a:pt x="1008" y="36858"/>
                  <a:pt x="968" y="36939"/>
                  <a:pt x="968" y="37019"/>
                </a:cubicBezTo>
                <a:lnTo>
                  <a:pt x="3065" y="37019"/>
                </a:lnTo>
                <a:lnTo>
                  <a:pt x="3065" y="41576"/>
                </a:lnTo>
                <a:lnTo>
                  <a:pt x="242" y="41576"/>
                </a:lnTo>
                <a:cubicBezTo>
                  <a:pt x="242" y="41657"/>
                  <a:pt x="242" y="41737"/>
                  <a:pt x="242" y="41818"/>
                </a:cubicBezTo>
                <a:lnTo>
                  <a:pt x="3065" y="41818"/>
                </a:lnTo>
                <a:lnTo>
                  <a:pt x="3065" y="46415"/>
                </a:lnTo>
                <a:lnTo>
                  <a:pt x="0" y="46415"/>
                </a:lnTo>
                <a:lnTo>
                  <a:pt x="0" y="46536"/>
                </a:lnTo>
                <a:lnTo>
                  <a:pt x="0" y="46657"/>
                </a:lnTo>
                <a:lnTo>
                  <a:pt x="3065" y="46657"/>
                </a:lnTo>
                <a:lnTo>
                  <a:pt x="3065" y="51214"/>
                </a:lnTo>
                <a:lnTo>
                  <a:pt x="242" y="51214"/>
                </a:lnTo>
                <a:cubicBezTo>
                  <a:pt x="242" y="51295"/>
                  <a:pt x="242" y="51375"/>
                  <a:pt x="242" y="51456"/>
                </a:cubicBezTo>
                <a:lnTo>
                  <a:pt x="3065" y="51456"/>
                </a:lnTo>
                <a:lnTo>
                  <a:pt x="3065" y="56053"/>
                </a:lnTo>
                <a:lnTo>
                  <a:pt x="968" y="56053"/>
                </a:lnTo>
                <a:cubicBezTo>
                  <a:pt x="968" y="56134"/>
                  <a:pt x="1008" y="56174"/>
                  <a:pt x="1008" y="56295"/>
                </a:cubicBezTo>
                <a:lnTo>
                  <a:pt x="3065" y="56295"/>
                </a:lnTo>
                <a:lnTo>
                  <a:pt x="3065" y="60852"/>
                </a:lnTo>
                <a:lnTo>
                  <a:pt x="2218" y="60852"/>
                </a:lnTo>
                <a:cubicBezTo>
                  <a:pt x="2258" y="60933"/>
                  <a:pt x="2299" y="61013"/>
                  <a:pt x="2299" y="61094"/>
                </a:cubicBezTo>
                <a:lnTo>
                  <a:pt x="3065" y="61094"/>
                </a:lnTo>
                <a:lnTo>
                  <a:pt x="3065" y="63191"/>
                </a:lnTo>
                <a:lnTo>
                  <a:pt x="3307" y="63836"/>
                </a:lnTo>
                <a:lnTo>
                  <a:pt x="3307" y="61094"/>
                </a:lnTo>
                <a:lnTo>
                  <a:pt x="7864" y="61094"/>
                </a:lnTo>
                <a:lnTo>
                  <a:pt x="7864" y="65651"/>
                </a:lnTo>
                <a:lnTo>
                  <a:pt x="4073" y="65651"/>
                </a:lnTo>
                <a:cubicBezTo>
                  <a:pt x="4113" y="65731"/>
                  <a:pt x="4154" y="65812"/>
                  <a:pt x="4194" y="65893"/>
                </a:cubicBezTo>
                <a:lnTo>
                  <a:pt x="7864" y="65893"/>
                </a:lnTo>
                <a:lnTo>
                  <a:pt x="7864" y="70490"/>
                </a:lnTo>
                <a:lnTo>
                  <a:pt x="6613" y="70490"/>
                </a:lnTo>
                <a:cubicBezTo>
                  <a:pt x="6654" y="70570"/>
                  <a:pt x="6694" y="70651"/>
                  <a:pt x="6775" y="70732"/>
                </a:cubicBezTo>
                <a:lnTo>
                  <a:pt x="7864" y="70732"/>
                </a:lnTo>
                <a:lnTo>
                  <a:pt x="7864" y="72466"/>
                </a:lnTo>
                <a:cubicBezTo>
                  <a:pt x="7944" y="72587"/>
                  <a:pt x="8025" y="72708"/>
                  <a:pt x="8106" y="72829"/>
                </a:cubicBezTo>
                <a:lnTo>
                  <a:pt x="8106" y="70732"/>
                </a:lnTo>
                <a:lnTo>
                  <a:pt x="12703" y="70732"/>
                </a:lnTo>
                <a:lnTo>
                  <a:pt x="12703" y="75289"/>
                </a:lnTo>
                <a:lnTo>
                  <a:pt x="9920" y="75289"/>
                </a:lnTo>
                <a:lnTo>
                  <a:pt x="10122" y="75531"/>
                </a:lnTo>
                <a:lnTo>
                  <a:pt x="12703" y="75531"/>
                </a:lnTo>
                <a:lnTo>
                  <a:pt x="12703" y="78474"/>
                </a:lnTo>
                <a:lnTo>
                  <a:pt x="12945" y="78716"/>
                </a:lnTo>
                <a:lnTo>
                  <a:pt x="12945" y="75531"/>
                </a:lnTo>
                <a:lnTo>
                  <a:pt x="17501" y="75531"/>
                </a:lnTo>
                <a:lnTo>
                  <a:pt x="17501" y="80087"/>
                </a:lnTo>
                <a:lnTo>
                  <a:pt x="14316" y="80087"/>
                </a:lnTo>
                <a:lnTo>
                  <a:pt x="14558" y="80329"/>
                </a:lnTo>
                <a:lnTo>
                  <a:pt x="17501" y="80329"/>
                </a:lnTo>
                <a:lnTo>
                  <a:pt x="17501" y="82910"/>
                </a:lnTo>
                <a:lnTo>
                  <a:pt x="17743" y="83072"/>
                </a:lnTo>
                <a:lnTo>
                  <a:pt x="17743" y="80329"/>
                </a:lnTo>
                <a:lnTo>
                  <a:pt x="22300" y="80329"/>
                </a:lnTo>
                <a:lnTo>
                  <a:pt x="22300" y="84927"/>
                </a:lnTo>
                <a:lnTo>
                  <a:pt x="20203" y="84927"/>
                </a:lnTo>
                <a:cubicBezTo>
                  <a:pt x="20324" y="85007"/>
                  <a:pt x="20445" y="85088"/>
                  <a:pt x="20566" y="85168"/>
                </a:cubicBezTo>
                <a:lnTo>
                  <a:pt x="22300" y="85168"/>
                </a:lnTo>
                <a:lnTo>
                  <a:pt x="22300" y="86257"/>
                </a:lnTo>
                <a:cubicBezTo>
                  <a:pt x="22381" y="86338"/>
                  <a:pt x="22462" y="86378"/>
                  <a:pt x="22542" y="86419"/>
                </a:cubicBezTo>
                <a:lnTo>
                  <a:pt x="22542" y="85168"/>
                </a:lnTo>
                <a:lnTo>
                  <a:pt x="27139" y="85168"/>
                </a:lnTo>
                <a:lnTo>
                  <a:pt x="27139" y="88838"/>
                </a:lnTo>
                <a:cubicBezTo>
                  <a:pt x="27220" y="88878"/>
                  <a:pt x="27301" y="88919"/>
                  <a:pt x="27381" y="88959"/>
                </a:cubicBezTo>
                <a:lnTo>
                  <a:pt x="27381" y="85168"/>
                </a:lnTo>
                <a:lnTo>
                  <a:pt x="31938" y="85168"/>
                </a:lnTo>
                <a:lnTo>
                  <a:pt x="31938" y="89725"/>
                </a:lnTo>
                <a:lnTo>
                  <a:pt x="29236" y="89725"/>
                </a:lnTo>
                <a:lnTo>
                  <a:pt x="29841" y="89967"/>
                </a:lnTo>
                <a:lnTo>
                  <a:pt x="31938" y="89967"/>
                </a:lnTo>
                <a:lnTo>
                  <a:pt x="31938" y="90733"/>
                </a:lnTo>
                <a:cubicBezTo>
                  <a:pt x="32019" y="90733"/>
                  <a:pt x="32099" y="90774"/>
                  <a:pt x="32180" y="90814"/>
                </a:cubicBezTo>
                <a:lnTo>
                  <a:pt x="32180" y="89967"/>
                </a:lnTo>
                <a:lnTo>
                  <a:pt x="36777" y="89967"/>
                </a:lnTo>
                <a:lnTo>
                  <a:pt x="36777" y="92024"/>
                </a:lnTo>
                <a:cubicBezTo>
                  <a:pt x="36858" y="92024"/>
                  <a:pt x="36939" y="92064"/>
                  <a:pt x="37019" y="92064"/>
                </a:cubicBezTo>
                <a:lnTo>
                  <a:pt x="37019" y="89967"/>
                </a:lnTo>
                <a:lnTo>
                  <a:pt x="41576" y="89967"/>
                </a:lnTo>
                <a:lnTo>
                  <a:pt x="41576" y="92790"/>
                </a:lnTo>
                <a:cubicBezTo>
                  <a:pt x="41657" y="92790"/>
                  <a:pt x="41737" y="92790"/>
                  <a:pt x="41818" y="92790"/>
                </a:cubicBezTo>
                <a:lnTo>
                  <a:pt x="41818" y="89967"/>
                </a:lnTo>
                <a:lnTo>
                  <a:pt x="46375" y="89967"/>
                </a:lnTo>
                <a:lnTo>
                  <a:pt x="46375" y="93032"/>
                </a:lnTo>
                <a:lnTo>
                  <a:pt x="46496" y="93032"/>
                </a:lnTo>
                <a:lnTo>
                  <a:pt x="46617" y="93032"/>
                </a:lnTo>
                <a:lnTo>
                  <a:pt x="46617" y="89967"/>
                </a:lnTo>
                <a:lnTo>
                  <a:pt x="51214" y="89967"/>
                </a:lnTo>
                <a:lnTo>
                  <a:pt x="51214" y="92790"/>
                </a:lnTo>
                <a:cubicBezTo>
                  <a:pt x="51295" y="92790"/>
                  <a:pt x="51375" y="92790"/>
                  <a:pt x="51456" y="92790"/>
                </a:cubicBezTo>
                <a:lnTo>
                  <a:pt x="51456" y="89967"/>
                </a:lnTo>
                <a:lnTo>
                  <a:pt x="56013" y="89967"/>
                </a:lnTo>
                <a:lnTo>
                  <a:pt x="56013" y="92064"/>
                </a:lnTo>
                <a:cubicBezTo>
                  <a:pt x="56093" y="92064"/>
                  <a:pt x="56174" y="92024"/>
                  <a:pt x="56255" y="92024"/>
                </a:cubicBezTo>
                <a:lnTo>
                  <a:pt x="56255" y="89967"/>
                </a:lnTo>
                <a:lnTo>
                  <a:pt x="60812" y="89967"/>
                </a:lnTo>
                <a:lnTo>
                  <a:pt x="60812" y="90814"/>
                </a:lnTo>
                <a:cubicBezTo>
                  <a:pt x="60892" y="90774"/>
                  <a:pt x="60973" y="90733"/>
                  <a:pt x="61054" y="90733"/>
                </a:cubicBezTo>
                <a:lnTo>
                  <a:pt x="61054" y="89967"/>
                </a:lnTo>
                <a:lnTo>
                  <a:pt x="63191" y="89967"/>
                </a:lnTo>
                <a:lnTo>
                  <a:pt x="63796" y="89725"/>
                </a:lnTo>
                <a:lnTo>
                  <a:pt x="61054" y="89725"/>
                </a:lnTo>
                <a:lnTo>
                  <a:pt x="61054" y="85168"/>
                </a:lnTo>
                <a:lnTo>
                  <a:pt x="65651" y="85168"/>
                </a:lnTo>
                <a:lnTo>
                  <a:pt x="65651" y="88959"/>
                </a:lnTo>
                <a:cubicBezTo>
                  <a:pt x="65731" y="88919"/>
                  <a:pt x="65812" y="88878"/>
                  <a:pt x="65893" y="88838"/>
                </a:cubicBezTo>
                <a:lnTo>
                  <a:pt x="65893" y="85168"/>
                </a:lnTo>
                <a:lnTo>
                  <a:pt x="70450" y="85168"/>
                </a:lnTo>
                <a:lnTo>
                  <a:pt x="70450" y="86419"/>
                </a:lnTo>
                <a:cubicBezTo>
                  <a:pt x="70530" y="86378"/>
                  <a:pt x="70611" y="86338"/>
                  <a:pt x="70691" y="86257"/>
                </a:cubicBezTo>
                <a:lnTo>
                  <a:pt x="70691" y="85168"/>
                </a:lnTo>
                <a:lnTo>
                  <a:pt x="72425" y="85168"/>
                </a:lnTo>
                <a:cubicBezTo>
                  <a:pt x="72546" y="85088"/>
                  <a:pt x="72667" y="85007"/>
                  <a:pt x="72788" y="84927"/>
                </a:cubicBezTo>
                <a:lnTo>
                  <a:pt x="70691" y="84927"/>
                </a:lnTo>
                <a:lnTo>
                  <a:pt x="70691" y="80329"/>
                </a:lnTo>
                <a:lnTo>
                  <a:pt x="75248" y="80329"/>
                </a:lnTo>
                <a:lnTo>
                  <a:pt x="75248" y="83072"/>
                </a:lnTo>
                <a:lnTo>
                  <a:pt x="75490" y="82910"/>
                </a:lnTo>
                <a:lnTo>
                  <a:pt x="75490" y="80329"/>
                </a:lnTo>
                <a:lnTo>
                  <a:pt x="78434" y="80329"/>
                </a:lnTo>
                <a:lnTo>
                  <a:pt x="78716" y="80087"/>
                </a:lnTo>
                <a:lnTo>
                  <a:pt x="75490" y="80087"/>
                </a:lnTo>
                <a:lnTo>
                  <a:pt x="75490" y="75531"/>
                </a:lnTo>
                <a:lnTo>
                  <a:pt x="80087" y="75531"/>
                </a:lnTo>
                <a:lnTo>
                  <a:pt x="80087" y="78716"/>
                </a:lnTo>
                <a:lnTo>
                  <a:pt x="80329" y="78474"/>
                </a:lnTo>
                <a:lnTo>
                  <a:pt x="80329" y="75531"/>
                </a:lnTo>
                <a:lnTo>
                  <a:pt x="82870" y="75531"/>
                </a:lnTo>
                <a:lnTo>
                  <a:pt x="83072" y="75289"/>
                </a:lnTo>
                <a:lnTo>
                  <a:pt x="80329" y="75289"/>
                </a:lnTo>
                <a:lnTo>
                  <a:pt x="80329" y="70732"/>
                </a:lnTo>
                <a:lnTo>
                  <a:pt x="84886" y="70732"/>
                </a:lnTo>
                <a:lnTo>
                  <a:pt x="84886" y="72829"/>
                </a:lnTo>
                <a:cubicBezTo>
                  <a:pt x="84967" y="72708"/>
                  <a:pt x="85048" y="72587"/>
                  <a:pt x="85128" y="72466"/>
                </a:cubicBezTo>
                <a:lnTo>
                  <a:pt x="85128" y="70732"/>
                </a:lnTo>
                <a:lnTo>
                  <a:pt x="86257" y="70732"/>
                </a:lnTo>
                <a:cubicBezTo>
                  <a:pt x="86298" y="70651"/>
                  <a:pt x="86338" y="70570"/>
                  <a:pt x="86378" y="70490"/>
                </a:cubicBezTo>
                <a:lnTo>
                  <a:pt x="85128" y="70490"/>
                </a:lnTo>
                <a:lnTo>
                  <a:pt x="85128" y="65893"/>
                </a:lnTo>
                <a:lnTo>
                  <a:pt x="88798" y="65893"/>
                </a:lnTo>
                <a:cubicBezTo>
                  <a:pt x="88838" y="65812"/>
                  <a:pt x="88879" y="65731"/>
                  <a:pt x="88919" y="65651"/>
                </a:cubicBezTo>
                <a:lnTo>
                  <a:pt x="85128" y="65651"/>
                </a:lnTo>
                <a:lnTo>
                  <a:pt x="85128" y="61094"/>
                </a:lnTo>
                <a:lnTo>
                  <a:pt x="89685" y="61094"/>
                </a:lnTo>
                <a:close/>
                <a:moveTo>
                  <a:pt x="85128" y="32180"/>
                </a:moveTo>
                <a:lnTo>
                  <a:pt x="89685" y="32180"/>
                </a:lnTo>
                <a:lnTo>
                  <a:pt x="89685" y="36777"/>
                </a:lnTo>
                <a:lnTo>
                  <a:pt x="85128" y="36777"/>
                </a:lnTo>
                <a:close/>
                <a:moveTo>
                  <a:pt x="85128" y="37019"/>
                </a:moveTo>
                <a:lnTo>
                  <a:pt x="89685" y="37019"/>
                </a:lnTo>
                <a:lnTo>
                  <a:pt x="89685" y="41576"/>
                </a:lnTo>
                <a:lnTo>
                  <a:pt x="85128" y="41576"/>
                </a:lnTo>
                <a:close/>
                <a:moveTo>
                  <a:pt x="85128" y="41818"/>
                </a:moveTo>
                <a:lnTo>
                  <a:pt x="89685" y="41818"/>
                </a:lnTo>
                <a:lnTo>
                  <a:pt x="89685" y="46375"/>
                </a:lnTo>
                <a:lnTo>
                  <a:pt x="85128" y="46375"/>
                </a:lnTo>
                <a:close/>
                <a:moveTo>
                  <a:pt x="85128" y="46617"/>
                </a:moveTo>
                <a:lnTo>
                  <a:pt x="89685" y="46617"/>
                </a:lnTo>
                <a:lnTo>
                  <a:pt x="89685" y="51214"/>
                </a:lnTo>
                <a:lnTo>
                  <a:pt x="85128" y="51214"/>
                </a:lnTo>
                <a:close/>
                <a:moveTo>
                  <a:pt x="85128" y="51456"/>
                </a:moveTo>
                <a:lnTo>
                  <a:pt x="89685" y="51456"/>
                </a:lnTo>
                <a:lnTo>
                  <a:pt x="89685" y="56013"/>
                </a:lnTo>
                <a:lnTo>
                  <a:pt x="85128" y="56013"/>
                </a:lnTo>
                <a:close/>
                <a:moveTo>
                  <a:pt x="85128" y="56255"/>
                </a:moveTo>
                <a:lnTo>
                  <a:pt x="89685" y="56255"/>
                </a:lnTo>
                <a:lnTo>
                  <a:pt x="89685" y="60812"/>
                </a:lnTo>
                <a:lnTo>
                  <a:pt x="85128" y="60812"/>
                </a:lnTo>
                <a:close/>
                <a:moveTo>
                  <a:pt x="7904" y="60812"/>
                </a:moveTo>
                <a:lnTo>
                  <a:pt x="3347" y="60812"/>
                </a:lnTo>
                <a:lnTo>
                  <a:pt x="3347" y="56255"/>
                </a:lnTo>
                <a:lnTo>
                  <a:pt x="7904" y="56255"/>
                </a:lnTo>
                <a:close/>
                <a:moveTo>
                  <a:pt x="7904" y="56013"/>
                </a:moveTo>
                <a:lnTo>
                  <a:pt x="3347" y="56013"/>
                </a:lnTo>
                <a:lnTo>
                  <a:pt x="3347" y="51456"/>
                </a:lnTo>
                <a:lnTo>
                  <a:pt x="7904" y="51456"/>
                </a:lnTo>
                <a:close/>
                <a:moveTo>
                  <a:pt x="7904" y="51214"/>
                </a:moveTo>
                <a:lnTo>
                  <a:pt x="3347" y="51214"/>
                </a:lnTo>
                <a:lnTo>
                  <a:pt x="3347" y="46617"/>
                </a:lnTo>
                <a:lnTo>
                  <a:pt x="7904" y="46617"/>
                </a:lnTo>
                <a:close/>
                <a:moveTo>
                  <a:pt x="7904" y="46375"/>
                </a:moveTo>
                <a:lnTo>
                  <a:pt x="3347" y="46375"/>
                </a:lnTo>
                <a:lnTo>
                  <a:pt x="3347" y="41818"/>
                </a:lnTo>
                <a:lnTo>
                  <a:pt x="7904" y="41818"/>
                </a:lnTo>
                <a:close/>
                <a:moveTo>
                  <a:pt x="7904" y="41576"/>
                </a:moveTo>
                <a:lnTo>
                  <a:pt x="3347" y="41576"/>
                </a:lnTo>
                <a:lnTo>
                  <a:pt x="3347" y="37019"/>
                </a:lnTo>
                <a:lnTo>
                  <a:pt x="7904" y="37019"/>
                </a:lnTo>
                <a:close/>
                <a:moveTo>
                  <a:pt x="7904" y="36777"/>
                </a:moveTo>
                <a:lnTo>
                  <a:pt x="3347" y="36777"/>
                </a:lnTo>
                <a:lnTo>
                  <a:pt x="3347" y="32180"/>
                </a:lnTo>
                <a:lnTo>
                  <a:pt x="7904" y="32180"/>
                </a:lnTo>
                <a:close/>
                <a:moveTo>
                  <a:pt x="12703" y="70449"/>
                </a:moveTo>
                <a:lnTo>
                  <a:pt x="8146" y="70449"/>
                </a:lnTo>
                <a:lnTo>
                  <a:pt x="8146" y="65893"/>
                </a:lnTo>
                <a:lnTo>
                  <a:pt x="12703" y="65893"/>
                </a:lnTo>
                <a:close/>
                <a:moveTo>
                  <a:pt x="12703" y="65610"/>
                </a:moveTo>
                <a:lnTo>
                  <a:pt x="8146" y="65610"/>
                </a:lnTo>
                <a:lnTo>
                  <a:pt x="8146" y="61054"/>
                </a:lnTo>
                <a:lnTo>
                  <a:pt x="12703" y="61054"/>
                </a:lnTo>
                <a:close/>
                <a:moveTo>
                  <a:pt x="12703" y="60812"/>
                </a:moveTo>
                <a:lnTo>
                  <a:pt x="8146" y="60812"/>
                </a:lnTo>
                <a:lnTo>
                  <a:pt x="8146" y="56255"/>
                </a:lnTo>
                <a:lnTo>
                  <a:pt x="12703" y="56255"/>
                </a:lnTo>
                <a:close/>
                <a:moveTo>
                  <a:pt x="12703" y="56013"/>
                </a:moveTo>
                <a:lnTo>
                  <a:pt x="8146" y="56013"/>
                </a:lnTo>
                <a:lnTo>
                  <a:pt x="8146" y="51456"/>
                </a:lnTo>
                <a:lnTo>
                  <a:pt x="12703" y="51456"/>
                </a:lnTo>
                <a:close/>
                <a:moveTo>
                  <a:pt x="12703" y="51174"/>
                </a:moveTo>
                <a:lnTo>
                  <a:pt x="8146" y="51174"/>
                </a:lnTo>
                <a:lnTo>
                  <a:pt x="8146" y="46617"/>
                </a:lnTo>
                <a:lnTo>
                  <a:pt x="12703" y="46617"/>
                </a:lnTo>
                <a:close/>
                <a:moveTo>
                  <a:pt x="12703" y="46375"/>
                </a:moveTo>
                <a:lnTo>
                  <a:pt x="8146" y="46375"/>
                </a:lnTo>
                <a:lnTo>
                  <a:pt x="8146" y="41818"/>
                </a:lnTo>
                <a:lnTo>
                  <a:pt x="12703" y="41818"/>
                </a:lnTo>
                <a:close/>
                <a:moveTo>
                  <a:pt x="12703" y="41576"/>
                </a:moveTo>
                <a:lnTo>
                  <a:pt x="8146" y="41576"/>
                </a:lnTo>
                <a:lnTo>
                  <a:pt x="8146" y="36979"/>
                </a:lnTo>
                <a:lnTo>
                  <a:pt x="12703" y="36979"/>
                </a:lnTo>
                <a:close/>
                <a:moveTo>
                  <a:pt x="12703" y="36737"/>
                </a:moveTo>
                <a:lnTo>
                  <a:pt x="8146" y="36737"/>
                </a:lnTo>
                <a:lnTo>
                  <a:pt x="8146" y="32180"/>
                </a:lnTo>
                <a:lnTo>
                  <a:pt x="12703" y="32180"/>
                </a:lnTo>
                <a:close/>
                <a:moveTo>
                  <a:pt x="12703" y="31938"/>
                </a:moveTo>
                <a:lnTo>
                  <a:pt x="8146" y="31938"/>
                </a:lnTo>
                <a:lnTo>
                  <a:pt x="8146" y="27381"/>
                </a:lnTo>
                <a:lnTo>
                  <a:pt x="12703" y="27381"/>
                </a:lnTo>
                <a:close/>
                <a:moveTo>
                  <a:pt x="12703" y="27139"/>
                </a:moveTo>
                <a:lnTo>
                  <a:pt x="8146" y="27139"/>
                </a:lnTo>
                <a:lnTo>
                  <a:pt x="8146" y="22542"/>
                </a:lnTo>
                <a:lnTo>
                  <a:pt x="12703" y="22542"/>
                </a:lnTo>
                <a:close/>
                <a:moveTo>
                  <a:pt x="17542" y="75248"/>
                </a:moveTo>
                <a:lnTo>
                  <a:pt x="12945" y="75248"/>
                </a:lnTo>
                <a:lnTo>
                  <a:pt x="12945" y="70651"/>
                </a:lnTo>
                <a:lnTo>
                  <a:pt x="17542" y="70651"/>
                </a:lnTo>
                <a:close/>
                <a:moveTo>
                  <a:pt x="17542" y="70449"/>
                </a:moveTo>
                <a:lnTo>
                  <a:pt x="12945" y="70449"/>
                </a:lnTo>
                <a:lnTo>
                  <a:pt x="12945" y="65852"/>
                </a:lnTo>
                <a:lnTo>
                  <a:pt x="17542" y="65852"/>
                </a:lnTo>
                <a:close/>
                <a:moveTo>
                  <a:pt x="17542" y="65610"/>
                </a:moveTo>
                <a:lnTo>
                  <a:pt x="12945" y="65610"/>
                </a:lnTo>
                <a:lnTo>
                  <a:pt x="12945" y="61054"/>
                </a:lnTo>
                <a:lnTo>
                  <a:pt x="17542" y="61054"/>
                </a:lnTo>
                <a:close/>
                <a:moveTo>
                  <a:pt x="17542" y="60812"/>
                </a:moveTo>
                <a:lnTo>
                  <a:pt x="12945" y="60812"/>
                </a:lnTo>
                <a:lnTo>
                  <a:pt x="12945" y="56214"/>
                </a:lnTo>
                <a:lnTo>
                  <a:pt x="17542" y="56214"/>
                </a:lnTo>
                <a:close/>
                <a:moveTo>
                  <a:pt x="17542" y="55972"/>
                </a:moveTo>
                <a:lnTo>
                  <a:pt x="12945" y="55972"/>
                </a:lnTo>
                <a:lnTo>
                  <a:pt x="12945" y="51416"/>
                </a:lnTo>
                <a:lnTo>
                  <a:pt x="17542" y="51416"/>
                </a:lnTo>
                <a:close/>
                <a:moveTo>
                  <a:pt x="17542" y="51174"/>
                </a:moveTo>
                <a:lnTo>
                  <a:pt x="12945" y="51174"/>
                </a:lnTo>
                <a:lnTo>
                  <a:pt x="12945" y="46617"/>
                </a:lnTo>
                <a:lnTo>
                  <a:pt x="17542" y="46617"/>
                </a:lnTo>
                <a:close/>
                <a:moveTo>
                  <a:pt x="17542" y="46375"/>
                </a:moveTo>
                <a:lnTo>
                  <a:pt x="12945" y="46375"/>
                </a:lnTo>
                <a:lnTo>
                  <a:pt x="12945" y="41778"/>
                </a:lnTo>
                <a:lnTo>
                  <a:pt x="17542" y="41778"/>
                </a:lnTo>
                <a:close/>
                <a:moveTo>
                  <a:pt x="17542" y="41536"/>
                </a:moveTo>
                <a:lnTo>
                  <a:pt x="12945" y="41536"/>
                </a:lnTo>
                <a:lnTo>
                  <a:pt x="12945" y="36979"/>
                </a:lnTo>
                <a:lnTo>
                  <a:pt x="17542" y="36979"/>
                </a:lnTo>
                <a:close/>
                <a:moveTo>
                  <a:pt x="17542" y="36737"/>
                </a:moveTo>
                <a:lnTo>
                  <a:pt x="12945" y="36737"/>
                </a:lnTo>
                <a:lnTo>
                  <a:pt x="12945" y="32180"/>
                </a:lnTo>
                <a:lnTo>
                  <a:pt x="17542" y="32180"/>
                </a:lnTo>
                <a:close/>
                <a:moveTo>
                  <a:pt x="17542" y="31938"/>
                </a:moveTo>
                <a:lnTo>
                  <a:pt x="12945" y="31938"/>
                </a:lnTo>
                <a:lnTo>
                  <a:pt x="12945" y="27341"/>
                </a:lnTo>
                <a:lnTo>
                  <a:pt x="17542" y="27341"/>
                </a:lnTo>
                <a:close/>
                <a:moveTo>
                  <a:pt x="17542" y="27099"/>
                </a:moveTo>
                <a:lnTo>
                  <a:pt x="12945" y="27099"/>
                </a:lnTo>
                <a:lnTo>
                  <a:pt x="12945" y="22542"/>
                </a:lnTo>
                <a:lnTo>
                  <a:pt x="17542" y="22542"/>
                </a:lnTo>
                <a:close/>
                <a:moveTo>
                  <a:pt x="17542" y="22300"/>
                </a:moveTo>
                <a:lnTo>
                  <a:pt x="12945" y="22300"/>
                </a:lnTo>
                <a:lnTo>
                  <a:pt x="12945" y="17743"/>
                </a:lnTo>
                <a:lnTo>
                  <a:pt x="17542" y="17743"/>
                </a:lnTo>
                <a:close/>
                <a:moveTo>
                  <a:pt x="22341" y="80047"/>
                </a:moveTo>
                <a:lnTo>
                  <a:pt x="17784" y="80047"/>
                </a:lnTo>
                <a:lnTo>
                  <a:pt x="17784" y="75450"/>
                </a:lnTo>
                <a:lnTo>
                  <a:pt x="22341" y="75450"/>
                </a:lnTo>
                <a:close/>
                <a:moveTo>
                  <a:pt x="22341" y="75208"/>
                </a:moveTo>
                <a:lnTo>
                  <a:pt x="17784" y="75208"/>
                </a:lnTo>
                <a:lnTo>
                  <a:pt x="17784" y="70651"/>
                </a:lnTo>
                <a:lnTo>
                  <a:pt x="22341" y="70651"/>
                </a:lnTo>
                <a:close/>
                <a:moveTo>
                  <a:pt x="22341" y="70409"/>
                </a:moveTo>
                <a:lnTo>
                  <a:pt x="17784" y="70409"/>
                </a:lnTo>
                <a:lnTo>
                  <a:pt x="17784" y="65852"/>
                </a:lnTo>
                <a:lnTo>
                  <a:pt x="22341" y="65852"/>
                </a:lnTo>
                <a:close/>
                <a:moveTo>
                  <a:pt x="22341" y="65610"/>
                </a:moveTo>
                <a:lnTo>
                  <a:pt x="17784" y="65610"/>
                </a:lnTo>
                <a:lnTo>
                  <a:pt x="17784" y="61013"/>
                </a:lnTo>
                <a:lnTo>
                  <a:pt x="22341" y="61013"/>
                </a:lnTo>
                <a:close/>
                <a:moveTo>
                  <a:pt x="22341" y="60771"/>
                </a:moveTo>
                <a:lnTo>
                  <a:pt x="17784" y="60771"/>
                </a:lnTo>
                <a:lnTo>
                  <a:pt x="17784" y="56214"/>
                </a:lnTo>
                <a:lnTo>
                  <a:pt x="22341" y="56214"/>
                </a:lnTo>
                <a:close/>
                <a:moveTo>
                  <a:pt x="22341" y="55972"/>
                </a:moveTo>
                <a:lnTo>
                  <a:pt x="17784" y="55972"/>
                </a:lnTo>
                <a:lnTo>
                  <a:pt x="17784" y="51416"/>
                </a:lnTo>
                <a:lnTo>
                  <a:pt x="22341" y="51416"/>
                </a:lnTo>
                <a:close/>
                <a:moveTo>
                  <a:pt x="22341" y="51174"/>
                </a:moveTo>
                <a:lnTo>
                  <a:pt x="17784" y="51174"/>
                </a:lnTo>
                <a:lnTo>
                  <a:pt x="17784" y="46577"/>
                </a:lnTo>
                <a:lnTo>
                  <a:pt x="22341" y="46577"/>
                </a:lnTo>
                <a:close/>
                <a:moveTo>
                  <a:pt x="22341" y="46335"/>
                </a:moveTo>
                <a:lnTo>
                  <a:pt x="17784" y="46335"/>
                </a:lnTo>
                <a:lnTo>
                  <a:pt x="17784" y="41778"/>
                </a:lnTo>
                <a:lnTo>
                  <a:pt x="22341" y="41778"/>
                </a:lnTo>
                <a:close/>
                <a:moveTo>
                  <a:pt x="22341" y="41536"/>
                </a:moveTo>
                <a:lnTo>
                  <a:pt x="17784" y="41536"/>
                </a:lnTo>
                <a:lnTo>
                  <a:pt x="17784" y="36939"/>
                </a:lnTo>
                <a:lnTo>
                  <a:pt x="22341" y="36939"/>
                </a:lnTo>
                <a:close/>
                <a:moveTo>
                  <a:pt x="22341" y="36737"/>
                </a:moveTo>
                <a:lnTo>
                  <a:pt x="17784" y="36737"/>
                </a:lnTo>
                <a:lnTo>
                  <a:pt x="17784" y="32140"/>
                </a:lnTo>
                <a:lnTo>
                  <a:pt x="22341" y="32140"/>
                </a:lnTo>
                <a:close/>
                <a:moveTo>
                  <a:pt x="22341" y="31898"/>
                </a:moveTo>
                <a:lnTo>
                  <a:pt x="17784" y="31898"/>
                </a:lnTo>
                <a:lnTo>
                  <a:pt x="17784" y="27341"/>
                </a:lnTo>
                <a:lnTo>
                  <a:pt x="22341" y="27341"/>
                </a:lnTo>
                <a:close/>
                <a:moveTo>
                  <a:pt x="22341" y="27099"/>
                </a:moveTo>
                <a:lnTo>
                  <a:pt x="17784" y="27099"/>
                </a:lnTo>
                <a:lnTo>
                  <a:pt x="17784" y="22502"/>
                </a:lnTo>
                <a:lnTo>
                  <a:pt x="22341" y="22502"/>
                </a:lnTo>
                <a:close/>
                <a:moveTo>
                  <a:pt x="22341" y="22260"/>
                </a:moveTo>
                <a:lnTo>
                  <a:pt x="17784" y="22260"/>
                </a:lnTo>
                <a:lnTo>
                  <a:pt x="17784" y="17703"/>
                </a:lnTo>
                <a:lnTo>
                  <a:pt x="22341" y="17703"/>
                </a:lnTo>
                <a:close/>
                <a:moveTo>
                  <a:pt x="22341" y="17461"/>
                </a:moveTo>
                <a:lnTo>
                  <a:pt x="17784" y="17461"/>
                </a:lnTo>
                <a:lnTo>
                  <a:pt x="17784" y="12904"/>
                </a:lnTo>
                <a:lnTo>
                  <a:pt x="22341" y="12904"/>
                </a:lnTo>
                <a:close/>
                <a:moveTo>
                  <a:pt x="27139" y="84846"/>
                </a:moveTo>
                <a:lnTo>
                  <a:pt x="22583" y="84846"/>
                </a:lnTo>
                <a:lnTo>
                  <a:pt x="22583" y="80249"/>
                </a:lnTo>
                <a:lnTo>
                  <a:pt x="27139" y="80249"/>
                </a:lnTo>
                <a:close/>
                <a:moveTo>
                  <a:pt x="27139" y="80007"/>
                </a:moveTo>
                <a:lnTo>
                  <a:pt x="22583" y="80007"/>
                </a:lnTo>
                <a:lnTo>
                  <a:pt x="22583" y="75450"/>
                </a:lnTo>
                <a:lnTo>
                  <a:pt x="27139" y="75450"/>
                </a:lnTo>
                <a:close/>
                <a:moveTo>
                  <a:pt x="27139" y="75208"/>
                </a:moveTo>
                <a:lnTo>
                  <a:pt x="22583" y="75208"/>
                </a:lnTo>
                <a:lnTo>
                  <a:pt x="22583" y="70611"/>
                </a:lnTo>
                <a:lnTo>
                  <a:pt x="27139" y="70611"/>
                </a:lnTo>
                <a:close/>
                <a:moveTo>
                  <a:pt x="27139" y="70369"/>
                </a:moveTo>
                <a:lnTo>
                  <a:pt x="22583" y="70369"/>
                </a:lnTo>
                <a:lnTo>
                  <a:pt x="22583" y="65812"/>
                </a:lnTo>
                <a:lnTo>
                  <a:pt x="27139" y="65812"/>
                </a:lnTo>
                <a:close/>
                <a:moveTo>
                  <a:pt x="27139" y="65570"/>
                </a:moveTo>
                <a:lnTo>
                  <a:pt x="22583" y="65570"/>
                </a:lnTo>
                <a:lnTo>
                  <a:pt x="22583" y="61013"/>
                </a:lnTo>
                <a:lnTo>
                  <a:pt x="27139" y="61013"/>
                </a:lnTo>
                <a:close/>
                <a:moveTo>
                  <a:pt x="27139" y="60771"/>
                </a:moveTo>
                <a:lnTo>
                  <a:pt x="22583" y="60771"/>
                </a:lnTo>
                <a:lnTo>
                  <a:pt x="22583" y="56174"/>
                </a:lnTo>
                <a:lnTo>
                  <a:pt x="27139" y="56174"/>
                </a:lnTo>
                <a:close/>
                <a:moveTo>
                  <a:pt x="27139" y="55932"/>
                </a:moveTo>
                <a:lnTo>
                  <a:pt x="22583" y="55932"/>
                </a:lnTo>
                <a:lnTo>
                  <a:pt x="22583" y="51375"/>
                </a:lnTo>
                <a:lnTo>
                  <a:pt x="27139" y="51375"/>
                </a:lnTo>
                <a:close/>
                <a:moveTo>
                  <a:pt x="27139" y="51133"/>
                </a:moveTo>
                <a:lnTo>
                  <a:pt x="22583" y="51133"/>
                </a:lnTo>
                <a:lnTo>
                  <a:pt x="22583" y="46577"/>
                </a:lnTo>
                <a:lnTo>
                  <a:pt x="27139" y="46577"/>
                </a:lnTo>
                <a:close/>
                <a:moveTo>
                  <a:pt x="27139" y="46335"/>
                </a:moveTo>
                <a:lnTo>
                  <a:pt x="22583" y="46335"/>
                </a:lnTo>
                <a:lnTo>
                  <a:pt x="22583" y="41737"/>
                </a:lnTo>
                <a:lnTo>
                  <a:pt x="27139" y="41737"/>
                </a:lnTo>
                <a:close/>
                <a:moveTo>
                  <a:pt x="27139" y="41495"/>
                </a:moveTo>
                <a:lnTo>
                  <a:pt x="22583" y="41495"/>
                </a:lnTo>
                <a:lnTo>
                  <a:pt x="22583" y="36939"/>
                </a:lnTo>
                <a:lnTo>
                  <a:pt x="27139" y="36939"/>
                </a:lnTo>
                <a:close/>
                <a:moveTo>
                  <a:pt x="27139" y="36697"/>
                </a:moveTo>
                <a:lnTo>
                  <a:pt x="22583" y="36697"/>
                </a:lnTo>
                <a:lnTo>
                  <a:pt x="22583" y="32140"/>
                </a:lnTo>
                <a:lnTo>
                  <a:pt x="27139" y="32140"/>
                </a:lnTo>
                <a:close/>
                <a:moveTo>
                  <a:pt x="27139" y="31898"/>
                </a:moveTo>
                <a:lnTo>
                  <a:pt x="22583" y="31898"/>
                </a:lnTo>
                <a:lnTo>
                  <a:pt x="22583" y="27301"/>
                </a:lnTo>
                <a:lnTo>
                  <a:pt x="27139" y="27301"/>
                </a:lnTo>
                <a:close/>
                <a:moveTo>
                  <a:pt x="27139" y="27059"/>
                </a:moveTo>
                <a:lnTo>
                  <a:pt x="22583" y="27059"/>
                </a:lnTo>
                <a:lnTo>
                  <a:pt x="22583" y="22502"/>
                </a:lnTo>
                <a:lnTo>
                  <a:pt x="27139" y="22502"/>
                </a:lnTo>
                <a:close/>
                <a:moveTo>
                  <a:pt x="27139" y="22260"/>
                </a:moveTo>
                <a:lnTo>
                  <a:pt x="22583" y="22260"/>
                </a:lnTo>
                <a:lnTo>
                  <a:pt x="22583" y="17703"/>
                </a:lnTo>
                <a:lnTo>
                  <a:pt x="27139" y="17703"/>
                </a:lnTo>
                <a:close/>
                <a:moveTo>
                  <a:pt x="27139" y="17461"/>
                </a:moveTo>
                <a:lnTo>
                  <a:pt x="22583" y="17461"/>
                </a:lnTo>
                <a:lnTo>
                  <a:pt x="22583" y="12864"/>
                </a:lnTo>
                <a:lnTo>
                  <a:pt x="27139" y="12864"/>
                </a:lnTo>
                <a:close/>
                <a:moveTo>
                  <a:pt x="27139" y="12622"/>
                </a:moveTo>
                <a:lnTo>
                  <a:pt x="22583" y="12622"/>
                </a:lnTo>
                <a:lnTo>
                  <a:pt x="22583" y="8065"/>
                </a:lnTo>
                <a:lnTo>
                  <a:pt x="27139" y="8065"/>
                </a:lnTo>
                <a:close/>
                <a:moveTo>
                  <a:pt x="31979" y="84806"/>
                </a:moveTo>
                <a:lnTo>
                  <a:pt x="27381" y="84806"/>
                </a:lnTo>
                <a:lnTo>
                  <a:pt x="27381" y="80249"/>
                </a:lnTo>
                <a:lnTo>
                  <a:pt x="31979" y="80249"/>
                </a:lnTo>
                <a:close/>
                <a:moveTo>
                  <a:pt x="31979" y="80007"/>
                </a:moveTo>
                <a:lnTo>
                  <a:pt x="27381" y="80007"/>
                </a:lnTo>
                <a:lnTo>
                  <a:pt x="27381" y="75410"/>
                </a:lnTo>
                <a:lnTo>
                  <a:pt x="31979" y="75410"/>
                </a:lnTo>
                <a:close/>
                <a:moveTo>
                  <a:pt x="31979" y="75168"/>
                </a:moveTo>
                <a:lnTo>
                  <a:pt x="27381" y="75168"/>
                </a:lnTo>
                <a:lnTo>
                  <a:pt x="27381" y="70611"/>
                </a:lnTo>
                <a:lnTo>
                  <a:pt x="31979" y="70611"/>
                </a:lnTo>
                <a:close/>
                <a:moveTo>
                  <a:pt x="31979" y="70369"/>
                </a:moveTo>
                <a:lnTo>
                  <a:pt x="27381" y="70369"/>
                </a:lnTo>
                <a:lnTo>
                  <a:pt x="27381" y="65812"/>
                </a:lnTo>
                <a:lnTo>
                  <a:pt x="31979" y="65812"/>
                </a:lnTo>
                <a:close/>
                <a:moveTo>
                  <a:pt x="31979" y="65570"/>
                </a:moveTo>
                <a:lnTo>
                  <a:pt x="27381" y="65570"/>
                </a:lnTo>
                <a:lnTo>
                  <a:pt x="27381" y="60973"/>
                </a:lnTo>
                <a:lnTo>
                  <a:pt x="31979" y="60973"/>
                </a:lnTo>
                <a:close/>
                <a:moveTo>
                  <a:pt x="31979" y="60731"/>
                </a:moveTo>
                <a:lnTo>
                  <a:pt x="27381" y="60731"/>
                </a:lnTo>
                <a:lnTo>
                  <a:pt x="27381" y="56174"/>
                </a:lnTo>
                <a:lnTo>
                  <a:pt x="31979" y="56174"/>
                </a:lnTo>
                <a:close/>
                <a:moveTo>
                  <a:pt x="31979" y="55932"/>
                </a:moveTo>
                <a:lnTo>
                  <a:pt x="27381" y="55932"/>
                </a:lnTo>
                <a:lnTo>
                  <a:pt x="27381" y="51375"/>
                </a:lnTo>
                <a:lnTo>
                  <a:pt x="31979" y="51375"/>
                </a:lnTo>
                <a:close/>
                <a:moveTo>
                  <a:pt x="31979" y="51133"/>
                </a:moveTo>
                <a:lnTo>
                  <a:pt x="27381" y="51133"/>
                </a:lnTo>
                <a:lnTo>
                  <a:pt x="27381" y="46536"/>
                </a:lnTo>
                <a:lnTo>
                  <a:pt x="31979" y="46536"/>
                </a:lnTo>
                <a:close/>
                <a:moveTo>
                  <a:pt x="31979" y="46294"/>
                </a:moveTo>
                <a:lnTo>
                  <a:pt x="27381" y="46294"/>
                </a:lnTo>
                <a:lnTo>
                  <a:pt x="27381" y="41737"/>
                </a:lnTo>
                <a:lnTo>
                  <a:pt x="31979" y="41737"/>
                </a:lnTo>
                <a:close/>
                <a:moveTo>
                  <a:pt x="31979" y="41495"/>
                </a:moveTo>
                <a:lnTo>
                  <a:pt x="27381" y="41495"/>
                </a:lnTo>
                <a:lnTo>
                  <a:pt x="27381" y="36898"/>
                </a:lnTo>
                <a:lnTo>
                  <a:pt x="31979" y="36898"/>
                </a:lnTo>
                <a:close/>
                <a:moveTo>
                  <a:pt x="31979" y="36656"/>
                </a:moveTo>
                <a:lnTo>
                  <a:pt x="27381" y="36656"/>
                </a:lnTo>
                <a:lnTo>
                  <a:pt x="27381" y="32099"/>
                </a:lnTo>
                <a:lnTo>
                  <a:pt x="31979" y="32099"/>
                </a:lnTo>
                <a:close/>
                <a:moveTo>
                  <a:pt x="31979" y="31858"/>
                </a:moveTo>
                <a:lnTo>
                  <a:pt x="27381" y="31858"/>
                </a:lnTo>
                <a:lnTo>
                  <a:pt x="27381" y="27301"/>
                </a:lnTo>
                <a:lnTo>
                  <a:pt x="31979" y="27301"/>
                </a:lnTo>
                <a:close/>
                <a:moveTo>
                  <a:pt x="31979" y="27059"/>
                </a:moveTo>
                <a:lnTo>
                  <a:pt x="27381" y="27059"/>
                </a:lnTo>
                <a:lnTo>
                  <a:pt x="27381" y="22462"/>
                </a:lnTo>
                <a:lnTo>
                  <a:pt x="31979" y="22462"/>
                </a:lnTo>
                <a:close/>
                <a:moveTo>
                  <a:pt x="31979" y="22220"/>
                </a:moveTo>
                <a:lnTo>
                  <a:pt x="27381" y="22220"/>
                </a:lnTo>
                <a:lnTo>
                  <a:pt x="27381" y="17663"/>
                </a:lnTo>
                <a:lnTo>
                  <a:pt x="31979" y="17663"/>
                </a:lnTo>
                <a:close/>
                <a:moveTo>
                  <a:pt x="31979" y="17421"/>
                </a:moveTo>
                <a:lnTo>
                  <a:pt x="27381" y="17421"/>
                </a:lnTo>
                <a:lnTo>
                  <a:pt x="27381" y="12864"/>
                </a:lnTo>
                <a:lnTo>
                  <a:pt x="31979" y="12864"/>
                </a:lnTo>
                <a:close/>
                <a:moveTo>
                  <a:pt x="31979" y="12622"/>
                </a:moveTo>
                <a:lnTo>
                  <a:pt x="27381" y="12622"/>
                </a:lnTo>
                <a:lnTo>
                  <a:pt x="27381" y="8025"/>
                </a:lnTo>
                <a:lnTo>
                  <a:pt x="31979" y="8025"/>
                </a:lnTo>
                <a:close/>
                <a:moveTo>
                  <a:pt x="36777" y="89604"/>
                </a:moveTo>
                <a:lnTo>
                  <a:pt x="32220" y="89604"/>
                </a:lnTo>
                <a:lnTo>
                  <a:pt x="32220" y="85007"/>
                </a:lnTo>
                <a:lnTo>
                  <a:pt x="36777" y="85007"/>
                </a:lnTo>
                <a:close/>
                <a:moveTo>
                  <a:pt x="36777" y="84765"/>
                </a:moveTo>
                <a:lnTo>
                  <a:pt x="32220" y="84765"/>
                </a:lnTo>
                <a:lnTo>
                  <a:pt x="32220" y="80208"/>
                </a:lnTo>
                <a:lnTo>
                  <a:pt x="36777" y="80208"/>
                </a:lnTo>
                <a:close/>
                <a:moveTo>
                  <a:pt x="36777" y="79966"/>
                </a:moveTo>
                <a:lnTo>
                  <a:pt x="32220" y="79966"/>
                </a:lnTo>
                <a:lnTo>
                  <a:pt x="32220" y="75410"/>
                </a:lnTo>
                <a:lnTo>
                  <a:pt x="36777" y="75410"/>
                </a:lnTo>
                <a:close/>
                <a:moveTo>
                  <a:pt x="36777" y="75168"/>
                </a:moveTo>
                <a:lnTo>
                  <a:pt x="32220" y="75168"/>
                </a:lnTo>
                <a:lnTo>
                  <a:pt x="32220" y="70570"/>
                </a:lnTo>
                <a:lnTo>
                  <a:pt x="36777" y="70570"/>
                </a:lnTo>
                <a:close/>
                <a:moveTo>
                  <a:pt x="36777" y="70329"/>
                </a:moveTo>
                <a:lnTo>
                  <a:pt x="32220" y="70329"/>
                </a:lnTo>
                <a:lnTo>
                  <a:pt x="32220" y="65772"/>
                </a:lnTo>
                <a:lnTo>
                  <a:pt x="36777" y="65772"/>
                </a:lnTo>
                <a:close/>
                <a:moveTo>
                  <a:pt x="36777" y="65530"/>
                </a:moveTo>
                <a:lnTo>
                  <a:pt x="32220" y="65530"/>
                </a:lnTo>
                <a:lnTo>
                  <a:pt x="32220" y="60973"/>
                </a:lnTo>
                <a:lnTo>
                  <a:pt x="36777" y="60973"/>
                </a:lnTo>
                <a:close/>
                <a:moveTo>
                  <a:pt x="36777" y="60731"/>
                </a:moveTo>
                <a:lnTo>
                  <a:pt x="32220" y="60731"/>
                </a:lnTo>
                <a:lnTo>
                  <a:pt x="32220" y="56134"/>
                </a:lnTo>
                <a:lnTo>
                  <a:pt x="36777" y="56134"/>
                </a:lnTo>
                <a:close/>
                <a:moveTo>
                  <a:pt x="36777" y="55892"/>
                </a:moveTo>
                <a:lnTo>
                  <a:pt x="32220" y="55892"/>
                </a:lnTo>
                <a:lnTo>
                  <a:pt x="32220" y="51335"/>
                </a:lnTo>
                <a:lnTo>
                  <a:pt x="36777" y="51335"/>
                </a:lnTo>
                <a:close/>
                <a:moveTo>
                  <a:pt x="36777" y="51093"/>
                </a:moveTo>
                <a:lnTo>
                  <a:pt x="32220" y="51093"/>
                </a:lnTo>
                <a:lnTo>
                  <a:pt x="32220" y="46536"/>
                </a:lnTo>
                <a:lnTo>
                  <a:pt x="36777" y="46536"/>
                </a:lnTo>
                <a:close/>
                <a:moveTo>
                  <a:pt x="36777" y="46294"/>
                </a:moveTo>
                <a:lnTo>
                  <a:pt x="32220" y="46294"/>
                </a:lnTo>
                <a:lnTo>
                  <a:pt x="32220" y="41697"/>
                </a:lnTo>
                <a:lnTo>
                  <a:pt x="36777" y="41697"/>
                </a:lnTo>
                <a:close/>
                <a:moveTo>
                  <a:pt x="36777" y="41455"/>
                </a:moveTo>
                <a:lnTo>
                  <a:pt x="32220" y="41455"/>
                </a:lnTo>
                <a:lnTo>
                  <a:pt x="32220" y="36898"/>
                </a:lnTo>
                <a:lnTo>
                  <a:pt x="36777" y="36898"/>
                </a:lnTo>
                <a:close/>
                <a:moveTo>
                  <a:pt x="36777" y="36656"/>
                </a:moveTo>
                <a:lnTo>
                  <a:pt x="32220" y="36656"/>
                </a:lnTo>
                <a:lnTo>
                  <a:pt x="32220" y="32059"/>
                </a:lnTo>
                <a:lnTo>
                  <a:pt x="36777" y="32059"/>
                </a:lnTo>
                <a:close/>
                <a:moveTo>
                  <a:pt x="36777" y="31817"/>
                </a:moveTo>
                <a:lnTo>
                  <a:pt x="32220" y="31817"/>
                </a:lnTo>
                <a:lnTo>
                  <a:pt x="32220" y="27260"/>
                </a:lnTo>
                <a:lnTo>
                  <a:pt x="36777" y="27260"/>
                </a:lnTo>
                <a:close/>
                <a:moveTo>
                  <a:pt x="36777" y="27018"/>
                </a:moveTo>
                <a:lnTo>
                  <a:pt x="32220" y="27018"/>
                </a:lnTo>
                <a:lnTo>
                  <a:pt x="32220" y="22462"/>
                </a:lnTo>
                <a:lnTo>
                  <a:pt x="36777" y="22462"/>
                </a:lnTo>
                <a:close/>
                <a:moveTo>
                  <a:pt x="36777" y="22220"/>
                </a:moveTo>
                <a:lnTo>
                  <a:pt x="32220" y="22220"/>
                </a:lnTo>
                <a:lnTo>
                  <a:pt x="32220" y="17622"/>
                </a:lnTo>
                <a:lnTo>
                  <a:pt x="36777" y="17622"/>
                </a:lnTo>
                <a:close/>
                <a:moveTo>
                  <a:pt x="36777" y="17380"/>
                </a:moveTo>
                <a:lnTo>
                  <a:pt x="32220" y="17380"/>
                </a:lnTo>
                <a:lnTo>
                  <a:pt x="32220" y="12824"/>
                </a:lnTo>
                <a:lnTo>
                  <a:pt x="36777" y="12824"/>
                </a:lnTo>
                <a:close/>
                <a:moveTo>
                  <a:pt x="36777" y="12582"/>
                </a:moveTo>
                <a:lnTo>
                  <a:pt x="32220" y="12582"/>
                </a:lnTo>
                <a:lnTo>
                  <a:pt x="32220" y="8025"/>
                </a:lnTo>
                <a:lnTo>
                  <a:pt x="36777" y="8025"/>
                </a:lnTo>
                <a:close/>
                <a:moveTo>
                  <a:pt x="36777" y="7783"/>
                </a:moveTo>
                <a:lnTo>
                  <a:pt x="32220" y="7783"/>
                </a:lnTo>
                <a:lnTo>
                  <a:pt x="32220" y="3307"/>
                </a:lnTo>
                <a:lnTo>
                  <a:pt x="36777" y="3307"/>
                </a:lnTo>
                <a:lnTo>
                  <a:pt x="36777" y="7904"/>
                </a:lnTo>
                <a:close/>
                <a:moveTo>
                  <a:pt x="41616" y="89564"/>
                </a:moveTo>
                <a:lnTo>
                  <a:pt x="37019" y="89564"/>
                </a:lnTo>
                <a:lnTo>
                  <a:pt x="37019" y="85007"/>
                </a:lnTo>
                <a:lnTo>
                  <a:pt x="41616" y="85007"/>
                </a:lnTo>
                <a:close/>
                <a:moveTo>
                  <a:pt x="41616" y="84765"/>
                </a:moveTo>
                <a:lnTo>
                  <a:pt x="37019" y="84765"/>
                </a:lnTo>
                <a:lnTo>
                  <a:pt x="37019" y="80168"/>
                </a:lnTo>
                <a:lnTo>
                  <a:pt x="41616" y="80168"/>
                </a:lnTo>
                <a:close/>
                <a:moveTo>
                  <a:pt x="41616" y="79926"/>
                </a:moveTo>
                <a:lnTo>
                  <a:pt x="37019" y="79926"/>
                </a:lnTo>
                <a:lnTo>
                  <a:pt x="37019" y="75369"/>
                </a:lnTo>
                <a:lnTo>
                  <a:pt x="41616" y="75369"/>
                </a:lnTo>
                <a:close/>
                <a:moveTo>
                  <a:pt x="41616" y="75127"/>
                </a:moveTo>
                <a:lnTo>
                  <a:pt x="37019" y="75127"/>
                </a:lnTo>
                <a:lnTo>
                  <a:pt x="37019" y="70570"/>
                </a:lnTo>
                <a:lnTo>
                  <a:pt x="41616" y="70570"/>
                </a:lnTo>
                <a:close/>
                <a:moveTo>
                  <a:pt x="41616" y="70329"/>
                </a:moveTo>
                <a:lnTo>
                  <a:pt x="37019" y="70329"/>
                </a:lnTo>
                <a:lnTo>
                  <a:pt x="37019" y="65731"/>
                </a:lnTo>
                <a:lnTo>
                  <a:pt x="41616" y="65731"/>
                </a:lnTo>
                <a:close/>
                <a:moveTo>
                  <a:pt x="41616" y="65489"/>
                </a:moveTo>
                <a:lnTo>
                  <a:pt x="37019" y="65489"/>
                </a:lnTo>
                <a:lnTo>
                  <a:pt x="37019" y="60933"/>
                </a:lnTo>
                <a:lnTo>
                  <a:pt x="41616" y="60933"/>
                </a:lnTo>
                <a:close/>
                <a:moveTo>
                  <a:pt x="41616" y="60691"/>
                </a:moveTo>
                <a:lnTo>
                  <a:pt x="37019" y="60691"/>
                </a:lnTo>
                <a:lnTo>
                  <a:pt x="37019" y="56134"/>
                </a:lnTo>
                <a:lnTo>
                  <a:pt x="41616" y="56134"/>
                </a:lnTo>
                <a:close/>
                <a:moveTo>
                  <a:pt x="41616" y="55892"/>
                </a:moveTo>
                <a:lnTo>
                  <a:pt x="37019" y="55892"/>
                </a:lnTo>
                <a:lnTo>
                  <a:pt x="37019" y="51295"/>
                </a:lnTo>
                <a:lnTo>
                  <a:pt x="41616" y="51295"/>
                </a:lnTo>
                <a:close/>
                <a:moveTo>
                  <a:pt x="41616" y="51053"/>
                </a:moveTo>
                <a:lnTo>
                  <a:pt x="37019" y="51053"/>
                </a:lnTo>
                <a:lnTo>
                  <a:pt x="37019" y="46496"/>
                </a:lnTo>
                <a:lnTo>
                  <a:pt x="41616" y="46496"/>
                </a:lnTo>
                <a:close/>
                <a:moveTo>
                  <a:pt x="41616" y="46254"/>
                </a:moveTo>
                <a:lnTo>
                  <a:pt x="37019" y="46254"/>
                </a:lnTo>
                <a:lnTo>
                  <a:pt x="37019" y="41697"/>
                </a:lnTo>
                <a:lnTo>
                  <a:pt x="41616" y="41697"/>
                </a:lnTo>
                <a:close/>
                <a:moveTo>
                  <a:pt x="41616" y="41455"/>
                </a:moveTo>
                <a:lnTo>
                  <a:pt x="37019" y="41455"/>
                </a:lnTo>
                <a:lnTo>
                  <a:pt x="37019" y="36858"/>
                </a:lnTo>
                <a:lnTo>
                  <a:pt x="41616" y="36858"/>
                </a:lnTo>
                <a:close/>
                <a:moveTo>
                  <a:pt x="41616" y="36616"/>
                </a:moveTo>
                <a:lnTo>
                  <a:pt x="37019" y="36616"/>
                </a:lnTo>
                <a:lnTo>
                  <a:pt x="37019" y="32059"/>
                </a:lnTo>
                <a:lnTo>
                  <a:pt x="41616" y="32059"/>
                </a:lnTo>
                <a:close/>
                <a:moveTo>
                  <a:pt x="41616" y="31817"/>
                </a:moveTo>
                <a:lnTo>
                  <a:pt x="37019" y="31817"/>
                </a:lnTo>
                <a:lnTo>
                  <a:pt x="37019" y="27220"/>
                </a:lnTo>
                <a:lnTo>
                  <a:pt x="41616" y="27220"/>
                </a:lnTo>
                <a:close/>
                <a:moveTo>
                  <a:pt x="41616" y="26978"/>
                </a:moveTo>
                <a:lnTo>
                  <a:pt x="37019" y="26978"/>
                </a:lnTo>
                <a:lnTo>
                  <a:pt x="37019" y="22421"/>
                </a:lnTo>
                <a:lnTo>
                  <a:pt x="41616" y="22421"/>
                </a:lnTo>
                <a:close/>
                <a:moveTo>
                  <a:pt x="41616" y="22179"/>
                </a:moveTo>
                <a:lnTo>
                  <a:pt x="37019" y="22179"/>
                </a:lnTo>
                <a:lnTo>
                  <a:pt x="37019" y="17622"/>
                </a:lnTo>
                <a:lnTo>
                  <a:pt x="41616" y="17622"/>
                </a:lnTo>
                <a:close/>
                <a:moveTo>
                  <a:pt x="41616" y="17380"/>
                </a:moveTo>
                <a:lnTo>
                  <a:pt x="37019" y="17380"/>
                </a:lnTo>
                <a:lnTo>
                  <a:pt x="37019" y="12783"/>
                </a:lnTo>
                <a:lnTo>
                  <a:pt x="41616" y="12783"/>
                </a:lnTo>
                <a:close/>
                <a:moveTo>
                  <a:pt x="41616" y="12541"/>
                </a:moveTo>
                <a:lnTo>
                  <a:pt x="37019" y="12541"/>
                </a:lnTo>
                <a:lnTo>
                  <a:pt x="37019" y="7985"/>
                </a:lnTo>
                <a:lnTo>
                  <a:pt x="41616" y="7985"/>
                </a:lnTo>
                <a:close/>
                <a:moveTo>
                  <a:pt x="41616" y="7743"/>
                </a:moveTo>
                <a:lnTo>
                  <a:pt x="37019" y="7743"/>
                </a:lnTo>
                <a:lnTo>
                  <a:pt x="37019" y="3307"/>
                </a:lnTo>
                <a:lnTo>
                  <a:pt x="41616" y="3307"/>
                </a:lnTo>
                <a:lnTo>
                  <a:pt x="41616" y="7904"/>
                </a:lnTo>
                <a:close/>
                <a:moveTo>
                  <a:pt x="46415" y="89564"/>
                </a:moveTo>
                <a:lnTo>
                  <a:pt x="41858" y="89564"/>
                </a:lnTo>
                <a:lnTo>
                  <a:pt x="41858" y="84967"/>
                </a:lnTo>
                <a:lnTo>
                  <a:pt x="46415" y="84967"/>
                </a:lnTo>
                <a:close/>
                <a:moveTo>
                  <a:pt x="46415" y="84725"/>
                </a:moveTo>
                <a:lnTo>
                  <a:pt x="41858" y="84725"/>
                </a:lnTo>
                <a:lnTo>
                  <a:pt x="41858" y="80168"/>
                </a:lnTo>
                <a:lnTo>
                  <a:pt x="46415" y="80168"/>
                </a:lnTo>
                <a:close/>
                <a:moveTo>
                  <a:pt x="46415" y="79926"/>
                </a:moveTo>
                <a:lnTo>
                  <a:pt x="41858" y="79926"/>
                </a:lnTo>
                <a:lnTo>
                  <a:pt x="41858" y="75329"/>
                </a:lnTo>
                <a:lnTo>
                  <a:pt x="46415" y="75329"/>
                </a:lnTo>
                <a:close/>
                <a:moveTo>
                  <a:pt x="46415" y="75087"/>
                </a:moveTo>
                <a:lnTo>
                  <a:pt x="41858" y="75087"/>
                </a:lnTo>
                <a:lnTo>
                  <a:pt x="41858" y="70530"/>
                </a:lnTo>
                <a:lnTo>
                  <a:pt x="46415" y="70530"/>
                </a:lnTo>
                <a:close/>
                <a:moveTo>
                  <a:pt x="46415" y="70288"/>
                </a:moveTo>
                <a:lnTo>
                  <a:pt x="41858" y="70288"/>
                </a:lnTo>
                <a:lnTo>
                  <a:pt x="41858" y="65731"/>
                </a:lnTo>
                <a:lnTo>
                  <a:pt x="46415" y="65731"/>
                </a:lnTo>
                <a:close/>
                <a:moveTo>
                  <a:pt x="46415" y="65489"/>
                </a:moveTo>
                <a:lnTo>
                  <a:pt x="41858" y="65489"/>
                </a:lnTo>
                <a:lnTo>
                  <a:pt x="41858" y="60892"/>
                </a:lnTo>
                <a:lnTo>
                  <a:pt x="46415" y="60892"/>
                </a:lnTo>
                <a:close/>
                <a:moveTo>
                  <a:pt x="46415" y="60650"/>
                </a:moveTo>
                <a:lnTo>
                  <a:pt x="41858" y="60650"/>
                </a:lnTo>
                <a:lnTo>
                  <a:pt x="41858" y="56093"/>
                </a:lnTo>
                <a:lnTo>
                  <a:pt x="46415" y="56093"/>
                </a:lnTo>
                <a:close/>
                <a:moveTo>
                  <a:pt x="46415" y="55851"/>
                </a:moveTo>
                <a:lnTo>
                  <a:pt x="41858" y="55851"/>
                </a:lnTo>
                <a:lnTo>
                  <a:pt x="41858" y="51295"/>
                </a:lnTo>
                <a:lnTo>
                  <a:pt x="46415" y="51295"/>
                </a:lnTo>
                <a:close/>
                <a:moveTo>
                  <a:pt x="46415" y="51053"/>
                </a:moveTo>
                <a:lnTo>
                  <a:pt x="41858" y="51053"/>
                </a:lnTo>
                <a:lnTo>
                  <a:pt x="41858" y="46456"/>
                </a:lnTo>
                <a:lnTo>
                  <a:pt x="46415" y="46456"/>
                </a:lnTo>
                <a:close/>
                <a:moveTo>
                  <a:pt x="46415" y="46214"/>
                </a:moveTo>
                <a:lnTo>
                  <a:pt x="41858" y="46214"/>
                </a:lnTo>
                <a:lnTo>
                  <a:pt x="41858" y="41657"/>
                </a:lnTo>
                <a:lnTo>
                  <a:pt x="46415" y="41657"/>
                </a:lnTo>
                <a:close/>
                <a:moveTo>
                  <a:pt x="46415" y="41415"/>
                </a:moveTo>
                <a:lnTo>
                  <a:pt x="41858" y="41415"/>
                </a:lnTo>
                <a:lnTo>
                  <a:pt x="41858" y="36858"/>
                </a:lnTo>
                <a:lnTo>
                  <a:pt x="46415" y="36858"/>
                </a:lnTo>
                <a:close/>
                <a:moveTo>
                  <a:pt x="46415" y="36616"/>
                </a:moveTo>
                <a:lnTo>
                  <a:pt x="41858" y="36616"/>
                </a:lnTo>
                <a:lnTo>
                  <a:pt x="41858" y="32019"/>
                </a:lnTo>
                <a:lnTo>
                  <a:pt x="46415" y="32019"/>
                </a:lnTo>
                <a:close/>
                <a:moveTo>
                  <a:pt x="46415" y="31777"/>
                </a:moveTo>
                <a:lnTo>
                  <a:pt x="41858" y="31777"/>
                </a:lnTo>
                <a:lnTo>
                  <a:pt x="41858" y="27220"/>
                </a:lnTo>
                <a:lnTo>
                  <a:pt x="46415" y="27220"/>
                </a:lnTo>
                <a:close/>
                <a:moveTo>
                  <a:pt x="46415" y="26978"/>
                </a:moveTo>
                <a:lnTo>
                  <a:pt x="41858" y="26978"/>
                </a:lnTo>
                <a:lnTo>
                  <a:pt x="41858" y="22381"/>
                </a:lnTo>
                <a:lnTo>
                  <a:pt x="46415" y="22381"/>
                </a:lnTo>
                <a:close/>
                <a:moveTo>
                  <a:pt x="46415" y="22139"/>
                </a:moveTo>
                <a:lnTo>
                  <a:pt x="41858" y="22139"/>
                </a:lnTo>
                <a:lnTo>
                  <a:pt x="41858" y="17582"/>
                </a:lnTo>
                <a:lnTo>
                  <a:pt x="46415" y="17582"/>
                </a:lnTo>
                <a:close/>
                <a:moveTo>
                  <a:pt x="46415" y="17340"/>
                </a:moveTo>
                <a:lnTo>
                  <a:pt x="41858" y="17340"/>
                </a:lnTo>
                <a:lnTo>
                  <a:pt x="41858" y="12783"/>
                </a:lnTo>
                <a:lnTo>
                  <a:pt x="46415" y="12783"/>
                </a:lnTo>
                <a:close/>
                <a:moveTo>
                  <a:pt x="46415" y="12541"/>
                </a:moveTo>
                <a:lnTo>
                  <a:pt x="41858" y="12541"/>
                </a:lnTo>
                <a:lnTo>
                  <a:pt x="41858" y="7944"/>
                </a:lnTo>
                <a:lnTo>
                  <a:pt x="46415" y="7944"/>
                </a:lnTo>
                <a:close/>
                <a:moveTo>
                  <a:pt x="46415" y="7702"/>
                </a:moveTo>
                <a:lnTo>
                  <a:pt x="41858" y="7702"/>
                </a:lnTo>
                <a:lnTo>
                  <a:pt x="41858" y="3307"/>
                </a:lnTo>
                <a:lnTo>
                  <a:pt x="46415" y="3307"/>
                </a:lnTo>
                <a:lnTo>
                  <a:pt x="46415" y="7904"/>
                </a:lnTo>
                <a:close/>
                <a:moveTo>
                  <a:pt x="51214" y="89524"/>
                </a:moveTo>
                <a:lnTo>
                  <a:pt x="46657" y="89524"/>
                </a:lnTo>
                <a:lnTo>
                  <a:pt x="46657" y="84967"/>
                </a:lnTo>
                <a:lnTo>
                  <a:pt x="51214" y="84967"/>
                </a:lnTo>
                <a:close/>
                <a:moveTo>
                  <a:pt x="51214" y="84685"/>
                </a:moveTo>
                <a:lnTo>
                  <a:pt x="46657" y="84685"/>
                </a:lnTo>
                <a:lnTo>
                  <a:pt x="46657" y="80128"/>
                </a:lnTo>
                <a:lnTo>
                  <a:pt x="51214" y="80128"/>
                </a:lnTo>
                <a:close/>
                <a:moveTo>
                  <a:pt x="51214" y="79886"/>
                </a:moveTo>
                <a:lnTo>
                  <a:pt x="46657" y="79886"/>
                </a:lnTo>
                <a:lnTo>
                  <a:pt x="46657" y="75329"/>
                </a:lnTo>
                <a:lnTo>
                  <a:pt x="51214" y="75329"/>
                </a:lnTo>
                <a:close/>
                <a:moveTo>
                  <a:pt x="51214" y="75087"/>
                </a:moveTo>
                <a:lnTo>
                  <a:pt x="46657" y="75087"/>
                </a:lnTo>
                <a:lnTo>
                  <a:pt x="46657" y="70490"/>
                </a:lnTo>
                <a:lnTo>
                  <a:pt x="51214" y="70490"/>
                </a:lnTo>
                <a:close/>
                <a:moveTo>
                  <a:pt x="51214" y="70248"/>
                </a:moveTo>
                <a:lnTo>
                  <a:pt x="46657" y="70248"/>
                </a:lnTo>
                <a:lnTo>
                  <a:pt x="46657" y="65691"/>
                </a:lnTo>
                <a:lnTo>
                  <a:pt x="51214" y="65691"/>
                </a:lnTo>
                <a:close/>
                <a:moveTo>
                  <a:pt x="51214" y="65449"/>
                </a:moveTo>
                <a:lnTo>
                  <a:pt x="46657" y="65449"/>
                </a:lnTo>
                <a:lnTo>
                  <a:pt x="46657" y="60892"/>
                </a:lnTo>
                <a:lnTo>
                  <a:pt x="51214" y="60892"/>
                </a:lnTo>
                <a:close/>
                <a:moveTo>
                  <a:pt x="51214" y="60650"/>
                </a:moveTo>
                <a:lnTo>
                  <a:pt x="46657" y="60650"/>
                </a:lnTo>
                <a:lnTo>
                  <a:pt x="46657" y="56053"/>
                </a:lnTo>
                <a:lnTo>
                  <a:pt x="51214" y="56053"/>
                </a:lnTo>
                <a:close/>
                <a:moveTo>
                  <a:pt x="51214" y="55811"/>
                </a:moveTo>
                <a:lnTo>
                  <a:pt x="46657" y="55811"/>
                </a:lnTo>
                <a:lnTo>
                  <a:pt x="46657" y="51254"/>
                </a:lnTo>
                <a:lnTo>
                  <a:pt x="51214" y="51254"/>
                </a:lnTo>
                <a:close/>
                <a:moveTo>
                  <a:pt x="51214" y="51012"/>
                </a:moveTo>
                <a:lnTo>
                  <a:pt x="46657" y="51012"/>
                </a:lnTo>
                <a:lnTo>
                  <a:pt x="46657" y="46456"/>
                </a:lnTo>
                <a:lnTo>
                  <a:pt x="51214" y="46456"/>
                </a:lnTo>
                <a:close/>
                <a:moveTo>
                  <a:pt x="51214" y="46214"/>
                </a:moveTo>
                <a:lnTo>
                  <a:pt x="46657" y="46214"/>
                </a:lnTo>
                <a:lnTo>
                  <a:pt x="46657" y="41616"/>
                </a:lnTo>
                <a:lnTo>
                  <a:pt x="51214" y="41616"/>
                </a:lnTo>
                <a:close/>
                <a:moveTo>
                  <a:pt x="51214" y="41374"/>
                </a:moveTo>
                <a:lnTo>
                  <a:pt x="46657" y="41374"/>
                </a:lnTo>
                <a:lnTo>
                  <a:pt x="46657" y="36818"/>
                </a:lnTo>
                <a:lnTo>
                  <a:pt x="51214" y="36818"/>
                </a:lnTo>
                <a:close/>
                <a:moveTo>
                  <a:pt x="51214" y="36576"/>
                </a:moveTo>
                <a:lnTo>
                  <a:pt x="46657" y="36576"/>
                </a:lnTo>
                <a:lnTo>
                  <a:pt x="46657" y="32019"/>
                </a:lnTo>
                <a:lnTo>
                  <a:pt x="51214" y="32019"/>
                </a:lnTo>
                <a:close/>
                <a:moveTo>
                  <a:pt x="51214" y="31777"/>
                </a:moveTo>
                <a:lnTo>
                  <a:pt x="46657" y="31777"/>
                </a:lnTo>
                <a:lnTo>
                  <a:pt x="46657" y="27180"/>
                </a:lnTo>
                <a:lnTo>
                  <a:pt x="51214" y="27180"/>
                </a:lnTo>
                <a:close/>
                <a:moveTo>
                  <a:pt x="51214" y="26938"/>
                </a:moveTo>
                <a:lnTo>
                  <a:pt x="46657" y="26938"/>
                </a:lnTo>
                <a:lnTo>
                  <a:pt x="46657" y="22381"/>
                </a:lnTo>
                <a:lnTo>
                  <a:pt x="51214" y="22381"/>
                </a:lnTo>
                <a:close/>
                <a:moveTo>
                  <a:pt x="51214" y="22139"/>
                </a:moveTo>
                <a:lnTo>
                  <a:pt x="46657" y="22139"/>
                </a:lnTo>
                <a:lnTo>
                  <a:pt x="46657" y="17582"/>
                </a:lnTo>
                <a:lnTo>
                  <a:pt x="51214" y="17582"/>
                </a:lnTo>
                <a:close/>
                <a:moveTo>
                  <a:pt x="51214" y="17340"/>
                </a:moveTo>
                <a:lnTo>
                  <a:pt x="46657" y="17340"/>
                </a:lnTo>
                <a:lnTo>
                  <a:pt x="46657" y="12743"/>
                </a:lnTo>
                <a:lnTo>
                  <a:pt x="51214" y="12743"/>
                </a:lnTo>
                <a:close/>
                <a:moveTo>
                  <a:pt x="51214" y="12501"/>
                </a:moveTo>
                <a:lnTo>
                  <a:pt x="46657" y="12501"/>
                </a:lnTo>
                <a:lnTo>
                  <a:pt x="46657" y="7944"/>
                </a:lnTo>
                <a:lnTo>
                  <a:pt x="51214" y="7944"/>
                </a:lnTo>
                <a:close/>
                <a:moveTo>
                  <a:pt x="51214" y="7702"/>
                </a:moveTo>
                <a:lnTo>
                  <a:pt x="46657" y="7702"/>
                </a:lnTo>
                <a:lnTo>
                  <a:pt x="46657" y="3307"/>
                </a:lnTo>
                <a:lnTo>
                  <a:pt x="51214" y="3307"/>
                </a:lnTo>
                <a:lnTo>
                  <a:pt x="51214" y="7904"/>
                </a:lnTo>
                <a:close/>
                <a:moveTo>
                  <a:pt x="56053" y="89483"/>
                </a:moveTo>
                <a:lnTo>
                  <a:pt x="51456" y="89483"/>
                </a:lnTo>
                <a:lnTo>
                  <a:pt x="51456" y="84927"/>
                </a:lnTo>
                <a:lnTo>
                  <a:pt x="56053" y="84927"/>
                </a:lnTo>
                <a:close/>
                <a:moveTo>
                  <a:pt x="56053" y="84685"/>
                </a:moveTo>
                <a:lnTo>
                  <a:pt x="51456" y="84685"/>
                </a:lnTo>
                <a:lnTo>
                  <a:pt x="51456" y="80087"/>
                </a:lnTo>
                <a:lnTo>
                  <a:pt x="56053" y="80087"/>
                </a:lnTo>
                <a:close/>
                <a:moveTo>
                  <a:pt x="56053" y="79845"/>
                </a:moveTo>
                <a:lnTo>
                  <a:pt x="51456" y="79845"/>
                </a:lnTo>
                <a:lnTo>
                  <a:pt x="51456" y="75289"/>
                </a:lnTo>
                <a:lnTo>
                  <a:pt x="56053" y="75289"/>
                </a:lnTo>
                <a:close/>
                <a:moveTo>
                  <a:pt x="56053" y="75047"/>
                </a:moveTo>
                <a:lnTo>
                  <a:pt x="51456" y="75047"/>
                </a:lnTo>
                <a:lnTo>
                  <a:pt x="51456" y="70490"/>
                </a:lnTo>
                <a:lnTo>
                  <a:pt x="56053" y="70490"/>
                </a:lnTo>
                <a:close/>
                <a:moveTo>
                  <a:pt x="56053" y="70248"/>
                </a:moveTo>
                <a:lnTo>
                  <a:pt x="51456" y="70248"/>
                </a:lnTo>
                <a:lnTo>
                  <a:pt x="51456" y="65651"/>
                </a:lnTo>
                <a:lnTo>
                  <a:pt x="56053" y="65651"/>
                </a:lnTo>
                <a:close/>
                <a:moveTo>
                  <a:pt x="56053" y="65409"/>
                </a:moveTo>
                <a:lnTo>
                  <a:pt x="51456" y="65409"/>
                </a:lnTo>
                <a:lnTo>
                  <a:pt x="51456" y="60852"/>
                </a:lnTo>
                <a:lnTo>
                  <a:pt x="56053" y="60852"/>
                </a:lnTo>
                <a:close/>
                <a:moveTo>
                  <a:pt x="56053" y="60610"/>
                </a:moveTo>
                <a:lnTo>
                  <a:pt x="51456" y="60610"/>
                </a:lnTo>
                <a:lnTo>
                  <a:pt x="51456" y="56053"/>
                </a:lnTo>
                <a:lnTo>
                  <a:pt x="56053" y="56053"/>
                </a:lnTo>
                <a:close/>
                <a:moveTo>
                  <a:pt x="56053" y="55811"/>
                </a:moveTo>
                <a:lnTo>
                  <a:pt x="51456" y="55811"/>
                </a:lnTo>
                <a:lnTo>
                  <a:pt x="51456" y="51214"/>
                </a:lnTo>
                <a:lnTo>
                  <a:pt x="56053" y="51214"/>
                </a:lnTo>
                <a:close/>
                <a:moveTo>
                  <a:pt x="56053" y="50972"/>
                </a:moveTo>
                <a:lnTo>
                  <a:pt x="51456" y="50972"/>
                </a:lnTo>
                <a:lnTo>
                  <a:pt x="51456" y="46415"/>
                </a:lnTo>
                <a:lnTo>
                  <a:pt x="56053" y="46415"/>
                </a:lnTo>
                <a:close/>
                <a:moveTo>
                  <a:pt x="56053" y="46173"/>
                </a:moveTo>
                <a:lnTo>
                  <a:pt x="51456" y="46173"/>
                </a:lnTo>
                <a:lnTo>
                  <a:pt x="51456" y="41616"/>
                </a:lnTo>
                <a:lnTo>
                  <a:pt x="56053" y="41616"/>
                </a:lnTo>
                <a:close/>
                <a:moveTo>
                  <a:pt x="56053" y="41374"/>
                </a:moveTo>
                <a:lnTo>
                  <a:pt x="51456" y="41374"/>
                </a:lnTo>
                <a:lnTo>
                  <a:pt x="51456" y="36777"/>
                </a:lnTo>
                <a:lnTo>
                  <a:pt x="56053" y="36777"/>
                </a:lnTo>
                <a:close/>
                <a:moveTo>
                  <a:pt x="56053" y="36535"/>
                </a:moveTo>
                <a:lnTo>
                  <a:pt x="51456" y="36535"/>
                </a:lnTo>
                <a:lnTo>
                  <a:pt x="51456" y="31978"/>
                </a:lnTo>
                <a:lnTo>
                  <a:pt x="56053" y="31978"/>
                </a:lnTo>
                <a:close/>
                <a:moveTo>
                  <a:pt x="56053" y="31737"/>
                </a:moveTo>
                <a:lnTo>
                  <a:pt x="51456" y="31737"/>
                </a:lnTo>
                <a:lnTo>
                  <a:pt x="51456" y="27180"/>
                </a:lnTo>
                <a:lnTo>
                  <a:pt x="56053" y="27180"/>
                </a:lnTo>
                <a:close/>
                <a:moveTo>
                  <a:pt x="56053" y="26938"/>
                </a:moveTo>
                <a:lnTo>
                  <a:pt x="51456" y="26938"/>
                </a:lnTo>
                <a:lnTo>
                  <a:pt x="51456" y="22341"/>
                </a:lnTo>
                <a:lnTo>
                  <a:pt x="56053" y="22341"/>
                </a:lnTo>
                <a:close/>
                <a:moveTo>
                  <a:pt x="56053" y="22099"/>
                </a:moveTo>
                <a:lnTo>
                  <a:pt x="51456" y="22099"/>
                </a:lnTo>
                <a:lnTo>
                  <a:pt x="51456" y="17542"/>
                </a:lnTo>
                <a:lnTo>
                  <a:pt x="56053" y="17542"/>
                </a:lnTo>
                <a:close/>
                <a:moveTo>
                  <a:pt x="56053" y="17300"/>
                </a:moveTo>
                <a:lnTo>
                  <a:pt x="51456" y="17300"/>
                </a:lnTo>
                <a:lnTo>
                  <a:pt x="51456" y="12743"/>
                </a:lnTo>
                <a:lnTo>
                  <a:pt x="56053" y="12743"/>
                </a:lnTo>
                <a:close/>
                <a:moveTo>
                  <a:pt x="56053" y="12501"/>
                </a:moveTo>
                <a:lnTo>
                  <a:pt x="51456" y="12501"/>
                </a:lnTo>
                <a:lnTo>
                  <a:pt x="51456" y="7904"/>
                </a:lnTo>
                <a:lnTo>
                  <a:pt x="56053" y="7904"/>
                </a:lnTo>
                <a:close/>
                <a:moveTo>
                  <a:pt x="56053" y="7662"/>
                </a:moveTo>
                <a:lnTo>
                  <a:pt x="51456" y="7662"/>
                </a:lnTo>
                <a:lnTo>
                  <a:pt x="51456" y="3307"/>
                </a:lnTo>
                <a:lnTo>
                  <a:pt x="56053" y="3307"/>
                </a:lnTo>
                <a:lnTo>
                  <a:pt x="56053" y="7904"/>
                </a:lnTo>
                <a:close/>
                <a:moveTo>
                  <a:pt x="60852" y="89483"/>
                </a:moveTo>
                <a:lnTo>
                  <a:pt x="56295" y="89483"/>
                </a:lnTo>
                <a:lnTo>
                  <a:pt x="56295" y="84886"/>
                </a:lnTo>
                <a:lnTo>
                  <a:pt x="60852" y="84886"/>
                </a:lnTo>
                <a:close/>
                <a:moveTo>
                  <a:pt x="60852" y="84644"/>
                </a:moveTo>
                <a:lnTo>
                  <a:pt x="56295" y="84644"/>
                </a:lnTo>
                <a:lnTo>
                  <a:pt x="56295" y="80087"/>
                </a:lnTo>
                <a:lnTo>
                  <a:pt x="60852" y="80087"/>
                </a:lnTo>
                <a:close/>
                <a:moveTo>
                  <a:pt x="60852" y="79845"/>
                </a:moveTo>
                <a:lnTo>
                  <a:pt x="56295" y="79845"/>
                </a:lnTo>
                <a:lnTo>
                  <a:pt x="56295" y="75248"/>
                </a:lnTo>
                <a:lnTo>
                  <a:pt x="60852" y="75248"/>
                </a:lnTo>
                <a:close/>
                <a:moveTo>
                  <a:pt x="60852" y="75006"/>
                </a:moveTo>
                <a:lnTo>
                  <a:pt x="56295" y="75006"/>
                </a:lnTo>
                <a:lnTo>
                  <a:pt x="56295" y="70449"/>
                </a:lnTo>
                <a:lnTo>
                  <a:pt x="60852" y="70449"/>
                </a:lnTo>
                <a:close/>
                <a:moveTo>
                  <a:pt x="60852" y="70208"/>
                </a:moveTo>
                <a:lnTo>
                  <a:pt x="56295" y="70208"/>
                </a:lnTo>
                <a:lnTo>
                  <a:pt x="56295" y="65651"/>
                </a:lnTo>
                <a:lnTo>
                  <a:pt x="60852" y="65651"/>
                </a:lnTo>
                <a:close/>
                <a:moveTo>
                  <a:pt x="60852" y="65409"/>
                </a:moveTo>
                <a:lnTo>
                  <a:pt x="56295" y="65409"/>
                </a:lnTo>
                <a:lnTo>
                  <a:pt x="56295" y="60812"/>
                </a:lnTo>
                <a:lnTo>
                  <a:pt x="60852" y="60812"/>
                </a:lnTo>
                <a:close/>
                <a:moveTo>
                  <a:pt x="60852" y="60570"/>
                </a:moveTo>
                <a:lnTo>
                  <a:pt x="56295" y="60570"/>
                </a:lnTo>
                <a:lnTo>
                  <a:pt x="56295" y="56013"/>
                </a:lnTo>
                <a:lnTo>
                  <a:pt x="60852" y="56013"/>
                </a:lnTo>
                <a:close/>
                <a:moveTo>
                  <a:pt x="60852" y="55771"/>
                </a:moveTo>
                <a:lnTo>
                  <a:pt x="56295" y="55771"/>
                </a:lnTo>
                <a:lnTo>
                  <a:pt x="56295" y="51214"/>
                </a:lnTo>
                <a:lnTo>
                  <a:pt x="60852" y="51214"/>
                </a:lnTo>
                <a:close/>
                <a:moveTo>
                  <a:pt x="60852" y="50972"/>
                </a:moveTo>
                <a:lnTo>
                  <a:pt x="56295" y="50972"/>
                </a:lnTo>
                <a:lnTo>
                  <a:pt x="56295" y="46375"/>
                </a:lnTo>
                <a:lnTo>
                  <a:pt x="60852" y="46375"/>
                </a:lnTo>
                <a:close/>
                <a:moveTo>
                  <a:pt x="60852" y="46133"/>
                </a:moveTo>
                <a:lnTo>
                  <a:pt x="56295" y="46133"/>
                </a:lnTo>
                <a:lnTo>
                  <a:pt x="56295" y="41576"/>
                </a:lnTo>
                <a:lnTo>
                  <a:pt x="60852" y="41576"/>
                </a:lnTo>
                <a:close/>
                <a:moveTo>
                  <a:pt x="60852" y="41334"/>
                </a:moveTo>
                <a:lnTo>
                  <a:pt x="56295" y="41334"/>
                </a:lnTo>
                <a:lnTo>
                  <a:pt x="56295" y="36777"/>
                </a:lnTo>
                <a:lnTo>
                  <a:pt x="60852" y="36777"/>
                </a:lnTo>
                <a:close/>
                <a:moveTo>
                  <a:pt x="60852" y="36535"/>
                </a:moveTo>
                <a:lnTo>
                  <a:pt x="56295" y="36535"/>
                </a:lnTo>
                <a:lnTo>
                  <a:pt x="56295" y="31938"/>
                </a:lnTo>
                <a:lnTo>
                  <a:pt x="60852" y="31938"/>
                </a:lnTo>
                <a:close/>
                <a:moveTo>
                  <a:pt x="60852" y="31696"/>
                </a:moveTo>
                <a:lnTo>
                  <a:pt x="56295" y="31696"/>
                </a:lnTo>
                <a:lnTo>
                  <a:pt x="56295" y="27139"/>
                </a:lnTo>
                <a:lnTo>
                  <a:pt x="60852" y="27139"/>
                </a:lnTo>
                <a:close/>
                <a:moveTo>
                  <a:pt x="60852" y="26897"/>
                </a:moveTo>
                <a:lnTo>
                  <a:pt x="56295" y="26897"/>
                </a:lnTo>
                <a:lnTo>
                  <a:pt x="56295" y="22341"/>
                </a:lnTo>
                <a:lnTo>
                  <a:pt x="60852" y="22341"/>
                </a:lnTo>
                <a:close/>
                <a:moveTo>
                  <a:pt x="60852" y="22099"/>
                </a:moveTo>
                <a:lnTo>
                  <a:pt x="56295" y="22099"/>
                </a:lnTo>
                <a:lnTo>
                  <a:pt x="56295" y="17501"/>
                </a:lnTo>
                <a:lnTo>
                  <a:pt x="60852" y="17501"/>
                </a:lnTo>
                <a:close/>
                <a:moveTo>
                  <a:pt x="60852" y="17260"/>
                </a:moveTo>
                <a:lnTo>
                  <a:pt x="56295" y="17260"/>
                </a:lnTo>
                <a:lnTo>
                  <a:pt x="56295" y="12703"/>
                </a:lnTo>
                <a:lnTo>
                  <a:pt x="60852" y="12703"/>
                </a:lnTo>
                <a:close/>
                <a:moveTo>
                  <a:pt x="60852" y="12461"/>
                </a:moveTo>
                <a:lnTo>
                  <a:pt x="56295" y="12461"/>
                </a:lnTo>
                <a:lnTo>
                  <a:pt x="56295" y="7904"/>
                </a:lnTo>
                <a:lnTo>
                  <a:pt x="60852" y="7904"/>
                </a:lnTo>
                <a:close/>
                <a:moveTo>
                  <a:pt x="60852" y="7662"/>
                </a:moveTo>
                <a:lnTo>
                  <a:pt x="56295" y="7662"/>
                </a:lnTo>
                <a:lnTo>
                  <a:pt x="56295" y="3307"/>
                </a:lnTo>
                <a:lnTo>
                  <a:pt x="60852" y="3307"/>
                </a:lnTo>
                <a:lnTo>
                  <a:pt x="60852" y="7904"/>
                </a:lnTo>
                <a:close/>
                <a:moveTo>
                  <a:pt x="65651" y="84644"/>
                </a:moveTo>
                <a:lnTo>
                  <a:pt x="61094" y="84644"/>
                </a:lnTo>
                <a:lnTo>
                  <a:pt x="61094" y="80047"/>
                </a:lnTo>
                <a:lnTo>
                  <a:pt x="65651" y="80047"/>
                </a:lnTo>
                <a:close/>
                <a:moveTo>
                  <a:pt x="65651" y="79805"/>
                </a:moveTo>
                <a:lnTo>
                  <a:pt x="61094" y="79805"/>
                </a:lnTo>
                <a:lnTo>
                  <a:pt x="61094" y="75248"/>
                </a:lnTo>
                <a:lnTo>
                  <a:pt x="65651" y="75248"/>
                </a:lnTo>
                <a:close/>
                <a:moveTo>
                  <a:pt x="65651" y="75006"/>
                </a:moveTo>
                <a:lnTo>
                  <a:pt x="61094" y="75006"/>
                </a:lnTo>
                <a:lnTo>
                  <a:pt x="61094" y="70449"/>
                </a:lnTo>
                <a:lnTo>
                  <a:pt x="65651" y="70449"/>
                </a:lnTo>
                <a:close/>
                <a:moveTo>
                  <a:pt x="65651" y="70208"/>
                </a:moveTo>
                <a:lnTo>
                  <a:pt x="61094" y="70208"/>
                </a:lnTo>
                <a:lnTo>
                  <a:pt x="61094" y="65610"/>
                </a:lnTo>
                <a:lnTo>
                  <a:pt x="65651" y="65610"/>
                </a:lnTo>
                <a:close/>
                <a:moveTo>
                  <a:pt x="65651" y="65368"/>
                </a:moveTo>
                <a:lnTo>
                  <a:pt x="61094" y="65368"/>
                </a:lnTo>
                <a:lnTo>
                  <a:pt x="61094" y="60812"/>
                </a:lnTo>
                <a:lnTo>
                  <a:pt x="65651" y="60812"/>
                </a:lnTo>
                <a:close/>
                <a:moveTo>
                  <a:pt x="65651" y="60570"/>
                </a:moveTo>
                <a:lnTo>
                  <a:pt x="61094" y="60570"/>
                </a:lnTo>
                <a:lnTo>
                  <a:pt x="61094" y="56013"/>
                </a:lnTo>
                <a:lnTo>
                  <a:pt x="65651" y="56013"/>
                </a:lnTo>
                <a:close/>
                <a:moveTo>
                  <a:pt x="65651" y="55771"/>
                </a:moveTo>
                <a:lnTo>
                  <a:pt x="61094" y="55771"/>
                </a:lnTo>
                <a:lnTo>
                  <a:pt x="61094" y="51174"/>
                </a:lnTo>
                <a:lnTo>
                  <a:pt x="65651" y="51174"/>
                </a:lnTo>
                <a:close/>
                <a:moveTo>
                  <a:pt x="65651" y="50932"/>
                </a:moveTo>
                <a:lnTo>
                  <a:pt x="61094" y="50932"/>
                </a:lnTo>
                <a:lnTo>
                  <a:pt x="61094" y="46375"/>
                </a:lnTo>
                <a:lnTo>
                  <a:pt x="65651" y="46375"/>
                </a:lnTo>
                <a:close/>
                <a:moveTo>
                  <a:pt x="65651" y="46133"/>
                </a:moveTo>
                <a:lnTo>
                  <a:pt x="61094" y="46133"/>
                </a:lnTo>
                <a:lnTo>
                  <a:pt x="61094" y="41536"/>
                </a:lnTo>
                <a:lnTo>
                  <a:pt x="65651" y="41536"/>
                </a:lnTo>
                <a:close/>
                <a:moveTo>
                  <a:pt x="65651" y="41294"/>
                </a:moveTo>
                <a:lnTo>
                  <a:pt x="61094" y="41294"/>
                </a:lnTo>
                <a:lnTo>
                  <a:pt x="61094" y="36737"/>
                </a:lnTo>
                <a:lnTo>
                  <a:pt x="65651" y="36737"/>
                </a:lnTo>
                <a:close/>
                <a:moveTo>
                  <a:pt x="65651" y="36495"/>
                </a:moveTo>
                <a:lnTo>
                  <a:pt x="61094" y="36495"/>
                </a:lnTo>
                <a:lnTo>
                  <a:pt x="61094" y="31938"/>
                </a:lnTo>
                <a:lnTo>
                  <a:pt x="65651" y="31938"/>
                </a:lnTo>
                <a:close/>
                <a:moveTo>
                  <a:pt x="65651" y="31696"/>
                </a:moveTo>
                <a:lnTo>
                  <a:pt x="61094" y="31696"/>
                </a:lnTo>
                <a:lnTo>
                  <a:pt x="61094" y="27099"/>
                </a:lnTo>
                <a:lnTo>
                  <a:pt x="65651" y="27099"/>
                </a:lnTo>
                <a:close/>
                <a:moveTo>
                  <a:pt x="65651" y="26857"/>
                </a:moveTo>
                <a:lnTo>
                  <a:pt x="61094" y="26857"/>
                </a:lnTo>
                <a:lnTo>
                  <a:pt x="61094" y="22300"/>
                </a:lnTo>
                <a:lnTo>
                  <a:pt x="65651" y="22300"/>
                </a:lnTo>
                <a:close/>
                <a:moveTo>
                  <a:pt x="65651" y="22058"/>
                </a:moveTo>
                <a:lnTo>
                  <a:pt x="61094" y="22058"/>
                </a:lnTo>
                <a:lnTo>
                  <a:pt x="61094" y="17501"/>
                </a:lnTo>
                <a:lnTo>
                  <a:pt x="65651" y="17501"/>
                </a:lnTo>
                <a:close/>
                <a:moveTo>
                  <a:pt x="65651" y="17260"/>
                </a:moveTo>
                <a:lnTo>
                  <a:pt x="61094" y="17260"/>
                </a:lnTo>
                <a:lnTo>
                  <a:pt x="61094" y="12662"/>
                </a:lnTo>
                <a:lnTo>
                  <a:pt x="65651" y="12662"/>
                </a:lnTo>
                <a:close/>
                <a:moveTo>
                  <a:pt x="65651" y="12420"/>
                </a:moveTo>
                <a:lnTo>
                  <a:pt x="61094" y="12420"/>
                </a:lnTo>
                <a:lnTo>
                  <a:pt x="61094" y="7864"/>
                </a:lnTo>
                <a:lnTo>
                  <a:pt x="65651" y="7864"/>
                </a:lnTo>
                <a:close/>
                <a:moveTo>
                  <a:pt x="70490" y="84604"/>
                </a:moveTo>
                <a:lnTo>
                  <a:pt x="65893" y="84604"/>
                </a:lnTo>
                <a:lnTo>
                  <a:pt x="65893" y="80047"/>
                </a:lnTo>
                <a:lnTo>
                  <a:pt x="70490" y="80047"/>
                </a:lnTo>
                <a:close/>
                <a:moveTo>
                  <a:pt x="70490" y="79805"/>
                </a:moveTo>
                <a:lnTo>
                  <a:pt x="65893" y="79805"/>
                </a:lnTo>
                <a:lnTo>
                  <a:pt x="65893" y="75208"/>
                </a:lnTo>
                <a:lnTo>
                  <a:pt x="70490" y="75208"/>
                </a:lnTo>
                <a:close/>
                <a:moveTo>
                  <a:pt x="70490" y="74966"/>
                </a:moveTo>
                <a:lnTo>
                  <a:pt x="65893" y="74966"/>
                </a:lnTo>
                <a:lnTo>
                  <a:pt x="65893" y="70409"/>
                </a:lnTo>
                <a:lnTo>
                  <a:pt x="70490" y="70409"/>
                </a:lnTo>
                <a:close/>
                <a:moveTo>
                  <a:pt x="70490" y="70167"/>
                </a:moveTo>
                <a:lnTo>
                  <a:pt x="65893" y="70167"/>
                </a:lnTo>
                <a:lnTo>
                  <a:pt x="65893" y="65610"/>
                </a:lnTo>
                <a:lnTo>
                  <a:pt x="70490" y="65610"/>
                </a:lnTo>
                <a:close/>
                <a:moveTo>
                  <a:pt x="70490" y="65368"/>
                </a:moveTo>
                <a:lnTo>
                  <a:pt x="65893" y="65368"/>
                </a:lnTo>
                <a:lnTo>
                  <a:pt x="65893" y="60771"/>
                </a:lnTo>
                <a:lnTo>
                  <a:pt x="70490" y="60771"/>
                </a:lnTo>
                <a:close/>
                <a:moveTo>
                  <a:pt x="70490" y="60529"/>
                </a:moveTo>
                <a:lnTo>
                  <a:pt x="65893" y="60529"/>
                </a:lnTo>
                <a:lnTo>
                  <a:pt x="65893" y="55972"/>
                </a:lnTo>
                <a:lnTo>
                  <a:pt x="70490" y="55972"/>
                </a:lnTo>
                <a:close/>
                <a:moveTo>
                  <a:pt x="70490" y="55730"/>
                </a:moveTo>
                <a:lnTo>
                  <a:pt x="65893" y="55730"/>
                </a:lnTo>
                <a:lnTo>
                  <a:pt x="65893" y="51174"/>
                </a:lnTo>
                <a:lnTo>
                  <a:pt x="70490" y="51174"/>
                </a:lnTo>
                <a:close/>
                <a:moveTo>
                  <a:pt x="70490" y="50932"/>
                </a:moveTo>
                <a:lnTo>
                  <a:pt x="65893" y="50932"/>
                </a:lnTo>
                <a:lnTo>
                  <a:pt x="65893" y="46335"/>
                </a:lnTo>
                <a:lnTo>
                  <a:pt x="70490" y="46335"/>
                </a:lnTo>
                <a:close/>
                <a:moveTo>
                  <a:pt x="70490" y="46093"/>
                </a:moveTo>
                <a:lnTo>
                  <a:pt x="65893" y="46093"/>
                </a:lnTo>
                <a:lnTo>
                  <a:pt x="65893" y="41536"/>
                </a:lnTo>
                <a:lnTo>
                  <a:pt x="70490" y="41536"/>
                </a:lnTo>
                <a:close/>
                <a:moveTo>
                  <a:pt x="70490" y="41294"/>
                </a:moveTo>
                <a:lnTo>
                  <a:pt x="65893" y="41294"/>
                </a:lnTo>
                <a:lnTo>
                  <a:pt x="65893" y="36737"/>
                </a:lnTo>
                <a:lnTo>
                  <a:pt x="70490" y="36737"/>
                </a:lnTo>
                <a:close/>
                <a:moveTo>
                  <a:pt x="70490" y="36495"/>
                </a:moveTo>
                <a:lnTo>
                  <a:pt x="65893" y="36495"/>
                </a:lnTo>
                <a:lnTo>
                  <a:pt x="65893" y="31898"/>
                </a:lnTo>
                <a:lnTo>
                  <a:pt x="70490" y="31898"/>
                </a:lnTo>
                <a:close/>
                <a:moveTo>
                  <a:pt x="70490" y="31656"/>
                </a:moveTo>
                <a:lnTo>
                  <a:pt x="65893" y="31656"/>
                </a:lnTo>
                <a:lnTo>
                  <a:pt x="65893" y="27099"/>
                </a:lnTo>
                <a:lnTo>
                  <a:pt x="70490" y="27099"/>
                </a:lnTo>
                <a:close/>
                <a:moveTo>
                  <a:pt x="70490" y="26857"/>
                </a:moveTo>
                <a:lnTo>
                  <a:pt x="65893" y="26857"/>
                </a:lnTo>
                <a:lnTo>
                  <a:pt x="65893" y="22260"/>
                </a:lnTo>
                <a:lnTo>
                  <a:pt x="70490" y="22260"/>
                </a:lnTo>
                <a:close/>
                <a:moveTo>
                  <a:pt x="70490" y="22018"/>
                </a:moveTo>
                <a:lnTo>
                  <a:pt x="65893" y="22018"/>
                </a:lnTo>
                <a:lnTo>
                  <a:pt x="65893" y="17461"/>
                </a:lnTo>
                <a:lnTo>
                  <a:pt x="70490" y="17461"/>
                </a:lnTo>
                <a:close/>
                <a:moveTo>
                  <a:pt x="70490" y="17219"/>
                </a:moveTo>
                <a:lnTo>
                  <a:pt x="65893" y="17219"/>
                </a:lnTo>
                <a:lnTo>
                  <a:pt x="65893" y="12662"/>
                </a:lnTo>
                <a:lnTo>
                  <a:pt x="70490" y="12662"/>
                </a:lnTo>
                <a:close/>
                <a:moveTo>
                  <a:pt x="70490" y="12420"/>
                </a:moveTo>
                <a:lnTo>
                  <a:pt x="65893" y="12420"/>
                </a:lnTo>
                <a:lnTo>
                  <a:pt x="65893" y="7823"/>
                </a:lnTo>
                <a:lnTo>
                  <a:pt x="70490" y="7823"/>
                </a:lnTo>
                <a:close/>
                <a:moveTo>
                  <a:pt x="75289" y="79765"/>
                </a:moveTo>
                <a:lnTo>
                  <a:pt x="70732" y="79765"/>
                </a:lnTo>
                <a:lnTo>
                  <a:pt x="70732" y="75208"/>
                </a:lnTo>
                <a:lnTo>
                  <a:pt x="75289" y="75208"/>
                </a:lnTo>
                <a:close/>
                <a:moveTo>
                  <a:pt x="75289" y="74966"/>
                </a:moveTo>
                <a:lnTo>
                  <a:pt x="70732" y="74966"/>
                </a:lnTo>
                <a:lnTo>
                  <a:pt x="70732" y="70409"/>
                </a:lnTo>
                <a:lnTo>
                  <a:pt x="75289" y="70409"/>
                </a:lnTo>
                <a:close/>
                <a:moveTo>
                  <a:pt x="75289" y="70167"/>
                </a:moveTo>
                <a:lnTo>
                  <a:pt x="70732" y="70167"/>
                </a:lnTo>
                <a:lnTo>
                  <a:pt x="70732" y="65570"/>
                </a:lnTo>
                <a:lnTo>
                  <a:pt x="75289" y="65570"/>
                </a:lnTo>
                <a:close/>
                <a:moveTo>
                  <a:pt x="75289" y="65328"/>
                </a:moveTo>
                <a:lnTo>
                  <a:pt x="70732" y="65328"/>
                </a:lnTo>
                <a:lnTo>
                  <a:pt x="70732" y="60771"/>
                </a:lnTo>
                <a:lnTo>
                  <a:pt x="75289" y="60771"/>
                </a:lnTo>
                <a:close/>
                <a:moveTo>
                  <a:pt x="75289" y="60529"/>
                </a:moveTo>
                <a:lnTo>
                  <a:pt x="70732" y="60529"/>
                </a:lnTo>
                <a:lnTo>
                  <a:pt x="70732" y="55972"/>
                </a:lnTo>
                <a:lnTo>
                  <a:pt x="75289" y="55972"/>
                </a:lnTo>
                <a:close/>
                <a:moveTo>
                  <a:pt x="75289" y="55730"/>
                </a:moveTo>
                <a:lnTo>
                  <a:pt x="70732" y="55730"/>
                </a:lnTo>
                <a:lnTo>
                  <a:pt x="70732" y="51133"/>
                </a:lnTo>
                <a:lnTo>
                  <a:pt x="75289" y="51133"/>
                </a:lnTo>
                <a:close/>
                <a:moveTo>
                  <a:pt x="75289" y="50891"/>
                </a:moveTo>
                <a:lnTo>
                  <a:pt x="70732" y="50891"/>
                </a:lnTo>
                <a:lnTo>
                  <a:pt x="70732" y="46335"/>
                </a:lnTo>
                <a:lnTo>
                  <a:pt x="75289" y="46335"/>
                </a:lnTo>
                <a:close/>
                <a:moveTo>
                  <a:pt x="75289" y="46093"/>
                </a:moveTo>
                <a:lnTo>
                  <a:pt x="70732" y="46093"/>
                </a:lnTo>
                <a:lnTo>
                  <a:pt x="70732" y="41495"/>
                </a:lnTo>
                <a:lnTo>
                  <a:pt x="75289" y="41495"/>
                </a:lnTo>
                <a:close/>
                <a:moveTo>
                  <a:pt x="75289" y="41253"/>
                </a:moveTo>
                <a:lnTo>
                  <a:pt x="70732" y="41253"/>
                </a:lnTo>
                <a:lnTo>
                  <a:pt x="70732" y="36697"/>
                </a:lnTo>
                <a:lnTo>
                  <a:pt x="75289" y="36697"/>
                </a:lnTo>
                <a:close/>
                <a:moveTo>
                  <a:pt x="75289" y="36455"/>
                </a:moveTo>
                <a:lnTo>
                  <a:pt x="70732" y="36455"/>
                </a:lnTo>
                <a:lnTo>
                  <a:pt x="70732" y="31898"/>
                </a:lnTo>
                <a:lnTo>
                  <a:pt x="75289" y="31898"/>
                </a:lnTo>
                <a:close/>
                <a:moveTo>
                  <a:pt x="75289" y="31656"/>
                </a:moveTo>
                <a:lnTo>
                  <a:pt x="70732" y="31656"/>
                </a:lnTo>
                <a:lnTo>
                  <a:pt x="70732" y="27059"/>
                </a:lnTo>
                <a:lnTo>
                  <a:pt x="75289" y="27059"/>
                </a:lnTo>
                <a:close/>
                <a:moveTo>
                  <a:pt x="75289" y="26817"/>
                </a:moveTo>
                <a:lnTo>
                  <a:pt x="70732" y="26817"/>
                </a:lnTo>
                <a:lnTo>
                  <a:pt x="70732" y="22260"/>
                </a:lnTo>
                <a:lnTo>
                  <a:pt x="75289" y="22260"/>
                </a:lnTo>
                <a:close/>
                <a:moveTo>
                  <a:pt x="75289" y="22018"/>
                </a:moveTo>
                <a:lnTo>
                  <a:pt x="70732" y="22018"/>
                </a:lnTo>
                <a:lnTo>
                  <a:pt x="70732" y="17461"/>
                </a:lnTo>
                <a:lnTo>
                  <a:pt x="75289" y="17461"/>
                </a:lnTo>
                <a:close/>
                <a:moveTo>
                  <a:pt x="75289" y="17219"/>
                </a:moveTo>
                <a:lnTo>
                  <a:pt x="70732" y="17219"/>
                </a:lnTo>
                <a:lnTo>
                  <a:pt x="70732" y="12622"/>
                </a:lnTo>
                <a:lnTo>
                  <a:pt x="75289" y="12622"/>
                </a:lnTo>
                <a:close/>
                <a:moveTo>
                  <a:pt x="80087" y="74926"/>
                </a:moveTo>
                <a:lnTo>
                  <a:pt x="75531" y="74926"/>
                </a:lnTo>
                <a:lnTo>
                  <a:pt x="75531" y="70369"/>
                </a:lnTo>
                <a:lnTo>
                  <a:pt x="80087" y="70369"/>
                </a:lnTo>
                <a:close/>
                <a:moveTo>
                  <a:pt x="80087" y="70127"/>
                </a:moveTo>
                <a:lnTo>
                  <a:pt x="75531" y="70127"/>
                </a:lnTo>
                <a:lnTo>
                  <a:pt x="75531" y="65570"/>
                </a:lnTo>
                <a:lnTo>
                  <a:pt x="80087" y="65570"/>
                </a:lnTo>
                <a:close/>
                <a:moveTo>
                  <a:pt x="80087" y="65328"/>
                </a:moveTo>
                <a:lnTo>
                  <a:pt x="75531" y="65328"/>
                </a:lnTo>
                <a:lnTo>
                  <a:pt x="75531" y="60731"/>
                </a:lnTo>
                <a:lnTo>
                  <a:pt x="80087" y="60731"/>
                </a:lnTo>
                <a:close/>
                <a:moveTo>
                  <a:pt x="80087" y="60489"/>
                </a:moveTo>
                <a:lnTo>
                  <a:pt x="75531" y="60489"/>
                </a:lnTo>
                <a:lnTo>
                  <a:pt x="75531" y="55932"/>
                </a:lnTo>
                <a:lnTo>
                  <a:pt x="80087" y="55932"/>
                </a:lnTo>
                <a:close/>
                <a:moveTo>
                  <a:pt x="80087" y="55690"/>
                </a:moveTo>
                <a:lnTo>
                  <a:pt x="75531" y="55690"/>
                </a:lnTo>
                <a:lnTo>
                  <a:pt x="75531" y="51133"/>
                </a:lnTo>
                <a:lnTo>
                  <a:pt x="80087" y="51133"/>
                </a:lnTo>
                <a:close/>
                <a:moveTo>
                  <a:pt x="80087" y="50891"/>
                </a:moveTo>
                <a:lnTo>
                  <a:pt x="75531" y="50891"/>
                </a:lnTo>
                <a:lnTo>
                  <a:pt x="75531" y="46294"/>
                </a:lnTo>
                <a:lnTo>
                  <a:pt x="80087" y="46294"/>
                </a:lnTo>
                <a:close/>
                <a:moveTo>
                  <a:pt x="80087" y="46052"/>
                </a:moveTo>
                <a:lnTo>
                  <a:pt x="75531" y="46052"/>
                </a:lnTo>
                <a:lnTo>
                  <a:pt x="75531" y="41495"/>
                </a:lnTo>
                <a:lnTo>
                  <a:pt x="80087" y="41495"/>
                </a:lnTo>
                <a:close/>
                <a:moveTo>
                  <a:pt x="80087" y="41253"/>
                </a:moveTo>
                <a:lnTo>
                  <a:pt x="75531" y="41253"/>
                </a:lnTo>
                <a:lnTo>
                  <a:pt x="75531" y="36697"/>
                </a:lnTo>
                <a:lnTo>
                  <a:pt x="80087" y="36697"/>
                </a:lnTo>
                <a:close/>
                <a:moveTo>
                  <a:pt x="80087" y="36455"/>
                </a:moveTo>
                <a:lnTo>
                  <a:pt x="75531" y="36455"/>
                </a:lnTo>
                <a:lnTo>
                  <a:pt x="75531" y="31858"/>
                </a:lnTo>
                <a:lnTo>
                  <a:pt x="80087" y="31858"/>
                </a:lnTo>
                <a:close/>
                <a:moveTo>
                  <a:pt x="80087" y="31616"/>
                </a:moveTo>
                <a:lnTo>
                  <a:pt x="75531" y="31616"/>
                </a:lnTo>
                <a:lnTo>
                  <a:pt x="75531" y="27059"/>
                </a:lnTo>
                <a:lnTo>
                  <a:pt x="80087" y="27059"/>
                </a:lnTo>
                <a:close/>
                <a:moveTo>
                  <a:pt x="80087" y="26817"/>
                </a:moveTo>
                <a:lnTo>
                  <a:pt x="75531" y="26817"/>
                </a:lnTo>
                <a:lnTo>
                  <a:pt x="75531" y="22260"/>
                </a:lnTo>
                <a:lnTo>
                  <a:pt x="80087" y="22260"/>
                </a:lnTo>
                <a:close/>
                <a:moveTo>
                  <a:pt x="80087" y="22018"/>
                </a:moveTo>
                <a:lnTo>
                  <a:pt x="75531" y="22018"/>
                </a:lnTo>
                <a:lnTo>
                  <a:pt x="75531" y="17421"/>
                </a:lnTo>
                <a:lnTo>
                  <a:pt x="80087" y="17421"/>
                </a:lnTo>
                <a:close/>
                <a:moveTo>
                  <a:pt x="84886" y="70127"/>
                </a:moveTo>
                <a:lnTo>
                  <a:pt x="80329" y="70127"/>
                </a:lnTo>
                <a:lnTo>
                  <a:pt x="80329" y="65530"/>
                </a:lnTo>
                <a:lnTo>
                  <a:pt x="84886" y="65530"/>
                </a:lnTo>
                <a:close/>
                <a:moveTo>
                  <a:pt x="84886" y="65288"/>
                </a:moveTo>
                <a:lnTo>
                  <a:pt x="80329" y="65288"/>
                </a:lnTo>
                <a:lnTo>
                  <a:pt x="80329" y="60731"/>
                </a:lnTo>
                <a:lnTo>
                  <a:pt x="84886" y="60731"/>
                </a:lnTo>
                <a:close/>
                <a:moveTo>
                  <a:pt x="84886" y="60489"/>
                </a:moveTo>
                <a:lnTo>
                  <a:pt x="80329" y="60489"/>
                </a:lnTo>
                <a:lnTo>
                  <a:pt x="80329" y="55932"/>
                </a:lnTo>
                <a:lnTo>
                  <a:pt x="84886" y="55932"/>
                </a:lnTo>
                <a:close/>
                <a:moveTo>
                  <a:pt x="84886" y="55690"/>
                </a:moveTo>
                <a:lnTo>
                  <a:pt x="80329" y="55690"/>
                </a:lnTo>
                <a:lnTo>
                  <a:pt x="80329" y="51093"/>
                </a:lnTo>
                <a:lnTo>
                  <a:pt x="84886" y="51093"/>
                </a:lnTo>
                <a:close/>
                <a:moveTo>
                  <a:pt x="84886" y="50851"/>
                </a:moveTo>
                <a:lnTo>
                  <a:pt x="80329" y="50851"/>
                </a:lnTo>
                <a:lnTo>
                  <a:pt x="80329" y="46294"/>
                </a:lnTo>
                <a:lnTo>
                  <a:pt x="84886" y="46294"/>
                </a:lnTo>
                <a:close/>
                <a:moveTo>
                  <a:pt x="84886" y="46052"/>
                </a:moveTo>
                <a:lnTo>
                  <a:pt x="80329" y="46052"/>
                </a:lnTo>
                <a:lnTo>
                  <a:pt x="80329" y="41495"/>
                </a:lnTo>
                <a:lnTo>
                  <a:pt x="84886" y="41495"/>
                </a:lnTo>
                <a:close/>
                <a:moveTo>
                  <a:pt x="84886" y="41253"/>
                </a:moveTo>
                <a:lnTo>
                  <a:pt x="80329" y="41253"/>
                </a:lnTo>
                <a:lnTo>
                  <a:pt x="80329" y="36656"/>
                </a:lnTo>
                <a:lnTo>
                  <a:pt x="84886" y="36656"/>
                </a:lnTo>
                <a:close/>
                <a:moveTo>
                  <a:pt x="84886" y="36414"/>
                </a:moveTo>
                <a:lnTo>
                  <a:pt x="80329" y="36414"/>
                </a:lnTo>
                <a:lnTo>
                  <a:pt x="80329" y="31858"/>
                </a:lnTo>
                <a:lnTo>
                  <a:pt x="84886" y="31858"/>
                </a:lnTo>
                <a:close/>
                <a:moveTo>
                  <a:pt x="84886" y="31616"/>
                </a:moveTo>
                <a:lnTo>
                  <a:pt x="80329" y="31616"/>
                </a:lnTo>
                <a:lnTo>
                  <a:pt x="80329" y="27018"/>
                </a:lnTo>
                <a:lnTo>
                  <a:pt x="84886" y="27018"/>
                </a:lnTo>
                <a:close/>
                <a:moveTo>
                  <a:pt x="84886" y="26776"/>
                </a:moveTo>
                <a:lnTo>
                  <a:pt x="80329" y="26776"/>
                </a:lnTo>
                <a:lnTo>
                  <a:pt x="80329" y="22220"/>
                </a:lnTo>
                <a:lnTo>
                  <a:pt x="84886" y="222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usiness Annual Report by Slidesgo">
  <a:themeElements>
    <a:clrScheme name="Simple Light">
      <a:dk1>
        <a:srgbClr val="00094A"/>
      </a:dk1>
      <a:lt1>
        <a:srgbClr val="00649F"/>
      </a:lt1>
      <a:dk2>
        <a:srgbClr val="FEFEFE"/>
      </a:dk2>
      <a:lt2>
        <a:srgbClr val="63DBF5"/>
      </a:lt2>
      <a:accent1>
        <a:srgbClr val="006DF5"/>
      </a:accent1>
      <a:accent2>
        <a:srgbClr val="516CEE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94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</TotalTime>
  <Words>608</Words>
  <Application>Microsoft Office PowerPoint</Application>
  <PresentationFormat>On-screen Show (16:9)</PresentationFormat>
  <Paragraphs>86</Paragraphs>
  <Slides>12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Montserrat</vt:lpstr>
      <vt:lpstr>Maven Pro</vt:lpstr>
      <vt:lpstr>Business Annual Report by Slidesgo</vt:lpstr>
      <vt:lpstr>Understanding Drivers of Earning Above/Below $50k</vt:lpstr>
      <vt:lpstr>What data are we working with? </vt:lpstr>
      <vt:lpstr>What stood out at first glance?</vt:lpstr>
      <vt:lpstr>Approach to protected characteristics</vt:lpstr>
      <vt:lpstr>Data preprocessing overview</vt:lpstr>
      <vt:lpstr>Modelling Approach</vt:lpstr>
      <vt:lpstr>Which model performed best?</vt:lpstr>
      <vt:lpstr>What drives high income in the model?</vt:lpstr>
      <vt:lpstr>Visualizing the impact (1)</vt:lpstr>
      <vt:lpstr>Visualizing the impact (2)</vt:lpstr>
      <vt:lpstr>Limitations &amp; future work</vt:lpstr>
      <vt:lpstr>Questions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Understanding Drivers of Earning Above/Below $50k</dc:title>
  <cp:lastModifiedBy>George</cp:lastModifiedBy>
  <cp:revision>28</cp:revision>
  <dcterms:modified xsi:type="dcterms:W3CDTF">2025-11-25T16:16:13Z</dcterms:modified>
</cp:coreProperties>
</file>
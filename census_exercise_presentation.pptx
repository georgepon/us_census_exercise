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4"/>
  </p:notesMasterIdLst>
  <p:sldIdLst>
    <p:sldId id="256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268" r:id="rId13"/>
  </p:sldIdLst>
  <p:sldSz cx="9144000" cy="5143500" type="screen16x9"/>
  <p:notesSz cx="6858000" cy="9144000"/>
  <p:embeddedFontLst>
    <p:embeddedFont>
      <p:font typeface="Maven Pro" panose="020B0604020202020204" charset="0"/>
      <p:regular r:id="rId15"/>
      <p:bold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816BB0-FB98-4176-95A7-FE8656883816}">
  <a:tblStyle styleId="{C5816BB0-FB98-4176-95A7-FE86568838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F5A1FFE-258C-4F42-A3A4-BAD4FC4AF1D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8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5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1e932d6227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1e932d6227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4037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1e932d6227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1e932d6227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931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1e932d6227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1e932d6227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709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e9418e3c38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e9418e3c38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7742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1e932d6227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1e932d6227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0579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1e932d6227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1e932d6227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7914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1e932d6227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1e932d6227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390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932d62275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932d62275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10800000" flipH="1">
            <a:off x="-78450" y="-78300"/>
            <a:ext cx="3429000" cy="8514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308350" y="1494300"/>
            <a:ext cx="45273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308350" y="3204600"/>
            <a:ext cx="45273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5"/>
          <p:cNvGrpSpPr/>
          <p:nvPr/>
        </p:nvGrpSpPr>
        <p:grpSpPr>
          <a:xfrm>
            <a:off x="-202950" y="-1524237"/>
            <a:ext cx="9908950" cy="5849938"/>
            <a:chOff x="-202950" y="-1524237"/>
            <a:chExt cx="9908950" cy="5849938"/>
          </a:xfrm>
        </p:grpSpPr>
        <p:sp>
          <p:nvSpPr>
            <p:cNvPr id="78" name="Google Shape;78;p5"/>
            <p:cNvSpPr/>
            <p:nvPr/>
          </p:nvSpPr>
          <p:spPr>
            <a:xfrm rot="10800000" flipH="1">
              <a:off x="-202950" y="-43075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9" name="Google Shape;79;p5"/>
            <p:cNvGrpSpPr/>
            <p:nvPr/>
          </p:nvGrpSpPr>
          <p:grpSpPr>
            <a:xfrm>
              <a:off x="8719875" y="2230200"/>
              <a:ext cx="986125" cy="2095500"/>
              <a:chOff x="7631225" y="2241175"/>
              <a:chExt cx="986125" cy="2095500"/>
            </a:xfrm>
          </p:grpSpPr>
          <p:cxnSp>
            <p:nvCxnSpPr>
              <p:cNvPr id="80" name="Google Shape;80;p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4" name="Google Shape;94;p5"/>
            <p:cNvGrpSpPr/>
            <p:nvPr/>
          </p:nvGrpSpPr>
          <p:grpSpPr>
            <a:xfrm>
              <a:off x="4865588" y="-1524237"/>
              <a:ext cx="1885275" cy="1884250"/>
              <a:chOff x="2609275" y="3149350"/>
              <a:chExt cx="1885275" cy="1884250"/>
            </a:xfrm>
          </p:grpSpPr>
          <p:sp>
            <p:nvSpPr>
              <p:cNvPr id="95" name="Google Shape;95;p5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" name="Google Shape;114;p5"/>
          <p:cNvGrpSpPr/>
          <p:nvPr/>
        </p:nvGrpSpPr>
        <p:grpSpPr>
          <a:xfrm>
            <a:off x="-5879" y="147025"/>
            <a:ext cx="9561029" cy="4996475"/>
            <a:chOff x="-5879" y="147025"/>
            <a:chExt cx="9561029" cy="4996475"/>
          </a:xfrm>
        </p:grpSpPr>
        <p:sp>
          <p:nvSpPr>
            <p:cNvPr id="115" name="Google Shape;115;p5"/>
            <p:cNvSpPr/>
            <p:nvPr/>
          </p:nvSpPr>
          <p:spPr>
            <a:xfrm>
              <a:off x="0" y="4570725"/>
              <a:ext cx="3023100" cy="572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672650" y="14702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 flipH="1">
              <a:off x="6920275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-5879" y="3272100"/>
              <a:ext cx="530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subTitle" idx="1"/>
          </p:nvPr>
        </p:nvSpPr>
        <p:spPr>
          <a:xfrm>
            <a:off x="826450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subTitle" idx="2"/>
          </p:nvPr>
        </p:nvSpPr>
        <p:spPr>
          <a:xfrm>
            <a:off x="4800925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8"/>
          <p:cNvGrpSpPr/>
          <p:nvPr/>
        </p:nvGrpSpPr>
        <p:grpSpPr>
          <a:xfrm>
            <a:off x="6873876" y="0"/>
            <a:ext cx="2263500" cy="1871400"/>
            <a:chOff x="6873876" y="0"/>
            <a:chExt cx="2263500" cy="1871400"/>
          </a:xfrm>
        </p:grpSpPr>
        <p:sp>
          <p:nvSpPr>
            <p:cNvPr id="183" name="Google Shape;183;p8"/>
            <p:cNvSpPr/>
            <p:nvPr/>
          </p:nvSpPr>
          <p:spPr>
            <a:xfrm flipH="1">
              <a:off x="8414976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 rot="10800000">
              <a:off x="6873876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85" name="Google Shape;185;p8"/>
          <p:cNvGrpSpPr/>
          <p:nvPr/>
        </p:nvGrpSpPr>
        <p:grpSpPr>
          <a:xfrm>
            <a:off x="6053826" y="2401638"/>
            <a:ext cx="4322888" cy="2780726"/>
            <a:chOff x="6053826" y="2401638"/>
            <a:chExt cx="4322888" cy="2780726"/>
          </a:xfrm>
        </p:grpSpPr>
        <p:sp>
          <p:nvSpPr>
            <p:cNvPr id="186" name="Google Shape;186;p8"/>
            <p:cNvSpPr/>
            <p:nvPr/>
          </p:nvSpPr>
          <p:spPr>
            <a:xfrm flipH="1">
              <a:off x="6053826" y="4571263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187" name="Google Shape;187;p8"/>
            <p:cNvGrpSpPr/>
            <p:nvPr/>
          </p:nvGrpSpPr>
          <p:grpSpPr>
            <a:xfrm flipH="1">
              <a:off x="8491439" y="2401638"/>
              <a:ext cx="1885275" cy="1884250"/>
              <a:chOff x="2609275" y="3149350"/>
              <a:chExt cx="1885275" cy="1884250"/>
            </a:xfrm>
          </p:grpSpPr>
          <p:sp>
            <p:nvSpPr>
              <p:cNvPr id="188" name="Google Shape;188;p8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8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8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8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8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8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8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8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8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8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7" name="Google Shape;207;p8"/>
          <p:cNvSpPr txBox="1">
            <a:spLocks noGrp="1"/>
          </p:cNvSpPr>
          <p:nvPr>
            <p:ph type="title"/>
          </p:nvPr>
        </p:nvSpPr>
        <p:spPr>
          <a:xfrm>
            <a:off x="1892300" y="1524000"/>
            <a:ext cx="5359500" cy="20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_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16"/>
          <p:cNvGrpSpPr/>
          <p:nvPr/>
        </p:nvGrpSpPr>
        <p:grpSpPr>
          <a:xfrm>
            <a:off x="-413550" y="1958000"/>
            <a:ext cx="10720388" cy="2311663"/>
            <a:chOff x="-413550" y="1958000"/>
            <a:chExt cx="10720388" cy="2311663"/>
          </a:xfrm>
        </p:grpSpPr>
        <p:grpSp>
          <p:nvGrpSpPr>
            <p:cNvPr id="365" name="Google Shape;365;p16"/>
            <p:cNvGrpSpPr/>
            <p:nvPr/>
          </p:nvGrpSpPr>
          <p:grpSpPr>
            <a:xfrm>
              <a:off x="8421563" y="2385413"/>
              <a:ext cx="1885275" cy="1884250"/>
              <a:chOff x="2609275" y="3149350"/>
              <a:chExt cx="1885275" cy="1884250"/>
            </a:xfrm>
          </p:grpSpPr>
          <p:sp>
            <p:nvSpPr>
              <p:cNvPr id="366" name="Google Shape;366;p16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6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6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5" name="Google Shape;385;p16"/>
            <p:cNvGrpSpPr/>
            <p:nvPr/>
          </p:nvGrpSpPr>
          <p:grpSpPr>
            <a:xfrm>
              <a:off x="-413550" y="1958000"/>
              <a:ext cx="986125" cy="2095500"/>
              <a:chOff x="7631225" y="2241175"/>
              <a:chExt cx="986125" cy="2095500"/>
            </a:xfrm>
          </p:grpSpPr>
          <p:cxnSp>
            <p:nvCxnSpPr>
              <p:cNvPr id="386" name="Google Shape;386;p16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6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8" name="Google Shape;388;p16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9" name="Google Shape;389;p16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0" name="Google Shape;390;p16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1" name="Google Shape;391;p16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2" name="Google Shape;392;p16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16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16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16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6" name="Google Shape;396;p16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7" name="Google Shape;397;p16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16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16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00" name="Google Shape;400;p16"/>
          <p:cNvGrpSpPr/>
          <p:nvPr/>
        </p:nvGrpSpPr>
        <p:grpSpPr>
          <a:xfrm>
            <a:off x="7925" y="-25"/>
            <a:ext cx="9136075" cy="5143513"/>
            <a:chOff x="7925" y="-25"/>
            <a:chExt cx="9136075" cy="5143513"/>
          </a:xfrm>
        </p:grpSpPr>
        <p:sp>
          <p:nvSpPr>
            <p:cNvPr id="401" name="Google Shape;401;p16"/>
            <p:cNvSpPr/>
            <p:nvPr/>
          </p:nvSpPr>
          <p:spPr>
            <a:xfrm>
              <a:off x="7925" y="4829688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7504200" y="-25"/>
              <a:ext cx="1639800" cy="424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03" name="Google Shape;403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5"/>
          <p:cNvGrpSpPr/>
          <p:nvPr/>
        </p:nvGrpSpPr>
        <p:grpSpPr>
          <a:xfrm>
            <a:off x="-49825" y="-374550"/>
            <a:ext cx="9556425" cy="7430813"/>
            <a:chOff x="-49825" y="-374550"/>
            <a:chExt cx="9556425" cy="7430813"/>
          </a:xfrm>
        </p:grpSpPr>
        <p:sp>
          <p:nvSpPr>
            <p:cNvPr id="606" name="Google Shape;606;p25"/>
            <p:cNvSpPr/>
            <p:nvPr/>
          </p:nvSpPr>
          <p:spPr>
            <a:xfrm rot="10800000" flipH="1">
              <a:off x="-49825" y="-1951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607" name="Google Shape;607;p25"/>
            <p:cNvGrpSpPr/>
            <p:nvPr/>
          </p:nvGrpSpPr>
          <p:grpSpPr>
            <a:xfrm>
              <a:off x="8520475" y="-374550"/>
              <a:ext cx="986125" cy="2095500"/>
              <a:chOff x="7631225" y="2241175"/>
              <a:chExt cx="986125" cy="2095500"/>
            </a:xfrm>
          </p:grpSpPr>
          <p:cxnSp>
            <p:nvCxnSpPr>
              <p:cNvPr id="608" name="Google Shape;608;p2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9" name="Google Shape;609;p2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0" name="Google Shape;610;p2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1" name="Google Shape;611;p2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2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2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2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2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2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7" name="Google Shape;617;p2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8" name="Google Shape;618;p2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9" name="Google Shape;619;p2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0" name="Google Shape;620;p2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22" name="Google Shape;622;p25"/>
            <p:cNvSpPr/>
            <p:nvPr/>
          </p:nvSpPr>
          <p:spPr>
            <a:xfrm rot="5400000">
              <a:off x="2920037" y="4730438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3" name="Google Shape;623;p25"/>
          <p:cNvGrpSpPr/>
          <p:nvPr/>
        </p:nvGrpSpPr>
        <p:grpSpPr>
          <a:xfrm>
            <a:off x="-323125" y="3272100"/>
            <a:ext cx="9467125" cy="1871400"/>
            <a:chOff x="-323125" y="3272100"/>
            <a:chExt cx="9467125" cy="1871400"/>
          </a:xfrm>
        </p:grpSpPr>
        <p:sp>
          <p:nvSpPr>
            <p:cNvPr id="624" name="Google Shape;624;p25"/>
            <p:cNvSpPr/>
            <p:nvPr/>
          </p:nvSpPr>
          <p:spPr>
            <a:xfrm>
              <a:off x="0" y="3272100"/>
              <a:ext cx="4575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 flipH="1">
              <a:off x="8600100" y="3551700"/>
              <a:ext cx="543900" cy="159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-323125" y="4730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 flipH="1">
              <a:off x="6880500" y="482970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628" name="Google Shape;628;p2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9" name="Google Shape;629;p25"/>
          <p:cNvSpPr txBox="1">
            <a:spLocks noGrp="1"/>
          </p:cNvSpPr>
          <p:nvPr>
            <p:ph type="subTitle" idx="1"/>
          </p:nvPr>
        </p:nvSpPr>
        <p:spPr>
          <a:xfrm>
            <a:off x="798552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25"/>
          <p:cNvSpPr txBox="1">
            <a:spLocks noGrp="1"/>
          </p:cNvSpPr>
          <p:nvPr>
            <p:ph type="subTitle" idx="2"/>
          </p:nvPr>
        </p:nvSpPr>
        <p:spPr>
          <a:xfrm>
            <a:off x="3377088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25"/>
          <p:cNvSpPr txBox="1">
            <a:spLocks noGrp="1"/>
          </p:cNvSpPr>
          <p:nvPr>
            <p:ph type="subTitle" idx="3"/>
          </p:nvPr>
        </p:nvSpPr>
        <p:spPr>
          <a:xfrm>
            <a:off x="798552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2" name="Google Shape;632;p25"/>
          <p:cNvSpPr txBox="1">
            <a:spLocks noGrp="1"/>
          </p:cNvSpPr>
          <p:nvPr>
            <p:ph type="subTitle" idx="4"/>
          </p:nvPr>
        </p:nvSpPr>
        <p:spPr>
          <a:xfrm>
            <a:off x="3377096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3" name="Google Shape;633;p25"/>
          <p:cNvSpPr txBox="1">
            <a:spLocks noGrp="1"/>
          </p:cNvSpPr>
          <p:nvPr>
            <p:ph type="subTitle" idx="5"/>
          </p:nvPr>
        </p:nvSpPr>
        <p:spPr>
          <a:xfrm>
            <a:off x="5955640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25"/>
          <p:cNvSpPr txBox="1">
            <a:spLocks noGrp="1"/>
          </p:cNvSpPr>
          <p:nvPr>
            <p:ph type="subTitle" idx="6"/>
          </p:nvPr>
        </p:nvSpPr>
        <p:spPr>
          <a:xfrm>
            <a:off x="5955648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33"/>
          <p:cNvGrpSpPr/>
          <p:nvPr/>
        </p:nvGrpSpPr>
        <p:grpSpPr>
          <a:xfrm>
            <a:off x="0" y="-25"/>
            <a:ext cx="9552075" cy="5143375"/>
            <a:chOff x="0" y="-25"/>
            <a:chExt cx="9552075" cy="5143375"/>
          </a:xfrm>
        </p:grpSpPr>
        <p:sp>
          <p:nvSpPr>
            <p:cNvPr id="882" name="Google Shape;882;p33"/>
            <p:cNvSpPr/>
            <p:nvPr/>
          </p:nvSpPr>
          <p:spPr>
            <a:xfrm>
              <a:off x="0" y="0"/>
              <a:ext cx="722400" cy="24021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 flipH="1">
              <a:off x="6943500" y="4306950"/>
              <a:ext cx="2200500" cy="8364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 rot="10800000" flipH="1">
              <a:off x="0" y="-25"/>
              <a:ext cx="2263500" cy="8421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86" name="Google Shape;886;p33"/>
          <p:cNvGrpSpPr/>
          <p:nvPr/>
        </p:nvGrpSpPr>
        <p:grpSpPr>
          <a:xfrm>
            <a:off x="489563" y="-211525"/>
            <a:ext cx="8425113" cy="6291588"/>
            <a:chOff x="489563" y="-211525"/>
            <a:chExt cx="8425113" cy="6291588"/>
          </a:xfrm>
        </p:grpSpPr>
        <p:grpSp>
          <p:nvGrpSpPr>
            <p:cNvPr id="887" name="Google Shape;887;p33"/>
            <p:cNvGrpSpPr/>
            <p:nvPr/>
          </p:nvGrpSpPr>
          <p:grpSpPr>
            <a:xfrm>
              <a:off x="489563" y="4195813"/>
              <a:ext cx="1885275" cy="1884250"/>
              <a:chOff x="2609275" y="3149350"/>
              <a:chExt cx="1885275" cy="1884250"/>
            </a:xfrm>
          </p:grpSpPr>
          <p:sp>
            <p:nvSpPr>
              <p:cNvPr id="888" name="Google Shape;888;p3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7" name="Google Shape;907;p33"/>
            <p:cNvGrpSpPr/>
            <p:nvPr/>
          </p:nvGrpSpPr>
          <p:grpSpPr>
            <a:xfrm>
              <a:off x="7928550" y="-211525"/>
              <a:ext cx="986125" cy="2095500"/>
              <a:chOff x="7631225" y="2241175"/>
              <a:chExt cx="986125" cy="2095500"/>
            </a:xfrm>
          </p:grpSpPr>
          <p:cxnSp>
            <p:nvCxnSpPr>
              <p:cNvPr id="908" name="Google Shape;908;p3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3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3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3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3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3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3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3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3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3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3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3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0" name="Google Shape;920;p3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1" name="Google Shape;921;p33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8" r:id="rId4"/>
    <p:sldLayoutId id="2147483662" r:id="rId5"/>
    <p:sldLayoutId id="2147483671" r:id="rId6"/>
    <p:sldLayoutId id="2147483678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7"/>
          <p:cNvSpPr txBox="1">
            <a:spLocks noGrp="1"/>
          </p:cNvSpPr>
          <p:nvPr>
            <p:ph type="ctrTitle"/>
          </p:nvPr>
        </p:nvSpPr>
        <p:spPr>
          <a:xfrm>
            <a:off x="1613614" y="1494300"/>
            <a:ext cx="5916772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/>
              <a:t>Understanding Drivers of Earning Above/Below $50k</a:t>
            </a:r>
            <a:endParaRPr sz="3200" dirty="0"/>
          </a:p>
        </p:txBody>
      </p:sp>
      <p:sp>
        <p:nvSpPr>
          <p:cNvPr id="933" name="Google Shape;933;p37"/>
          <p:cNvSpPr txBox="1">
            <a:spLocks noGrp="1"/>
          </p:cNvSpPr>
          <p:nvPr>
            <p:ph type="subTitle" idx="1"/>
          </p:nvPr>
        </p:nvSpPr>
        <p:spPr>
          <a:xfrm>
            <a:off x="1480000" y="3204600"/>
            <a:ext cx="61840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A walkthrough of the approach, insights, and modelling pipeline.</a:t>
            </a:r>
          </a:p>
        </p:txBody>
      </p:sp>
      <p:grpSp>
        <p:nvGrpSpPr>
          <p:cNvPr id="934" name="Google Shape;934;p37"/>
          <p:cNvGrpSpPr/>
          <p:nvPr/>
        </p:nvGrpSpPr>
        <p:grpSpPr>
          <a:xfrm>
            <a:off x="5524419" y="2241175"/>
            <a:ext cx="3619432" cy="2902209"/>
            <a:chOff x="5524419" y="2241175"/>
            <a:chExt cx="3619432" cy="2902209"/>
          </a:xfrm>
        </p:grpSpPr>
        <p:grpSp>
          <p:nvGrpSpPr>
            <p:cNvPr id="935" name="Google Shape;935;p37"/>
            <p:cNvGrpSpPr/>
            <p:nvPr/>
          </p:nvGrpSpPr>
          <p:grpSpPr>
            <a:xfrm>
              <a:off x="5524419" y="4160759"/>
              <a:ext cx="3619432" cy="982624"/>
              <a:chOff x="4986600" y="4014825"/>
              <a:chExt cx="4157400" cy="1128675"/>
            </a:xfrm>
          </p:grpSpPr>
          <p:sp>
            <p:nvSpPr>
              <p:cNvPr id="936" name="Google Shape;936;p37"/>
              <p:cNvSpPr/>
              <p:nvPr/>
            </p:nvSpPr>
            <p:spPr>
              <a:xfrm flipH="1">
                <a:off x="5715000" y="4014825"/>
                <a:ext cx="3429000" cy="1128600"/>
              </a:xfrm>
              <a:prstGeom prst="round1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937" name="Google Shape;937;p37"/>
              <p:cNvSpPr/>
              <p:nvPr/>
            </p:nvSpPr>
            <p:spPr>
              <a:xfrm flipH="1">
                <a:off x="4986600" y="4527300"/>
                <a:ext cx="4157400" cy="616200"/>
              </a:xfrm>
              <a:prstGeom prst="round1Rect">
                <a:avLst>
                  <a:gd name="adj" fmla="val 50000"/>
                </a:avLst>
              </a:prstGeom>
              <a:solidFill>
                <a:srgbClr val="63DBF5">
                  <a:alpha val="6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grpSp>
          <p:nvGrpSpPr>
            <p:cNvPr id="938" name="Google Shape;938;p37"/>
            <p:cNvGrpSpPr/>
            <p:nvPr/>
          </p:nvGrpSpPr>
          <p:grpSpPr>
            <a:xfrm>
              <a:off x="7631225" y="2241175"/>
              <a:ext cx="986125" cy="2095500"/>
              <a:chOff x="7631225" y="2241175"/>
              <a:chExt cx="986125" cy="2095500"/>
            </a:xfrm>
          </p:grpSpPr>
          <p:cxnSp>
            <p:nvCxnSpPr>
              <p:cNvPr id="939" name="Google Shape;939;p37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0" name="Google Shape;940;p37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1" name="Google Shape;941;p37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2" name="Google Shape;942;p37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3" name="Google Shape;943;p37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4" name="Google Shape;944;p37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5" name="Google Shape;945;p37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6" name="Google Shape;946;p37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7" name="Google Shape;947;p37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8" name="Google Shape;948;p37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9" name="Google Shape;949;p37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0" name="Google Shape;950;p37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1" name="Google Shape;951;p37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2" name="Google Shape;952;p37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53" name="Google Shape;953;p37"/>
          <p:cNvGrpSpPr/>
          <p:nvPr/>
        </p:nvGrpSpPr>
        <p:grpSpPr>
          <a:xfrm>
            <a:off x="-630087" y="1859288"/>
            <a:ext cx="2893588" cy="3284238"/>
            <a:chOff x="-630087" y="1859288"/>
            <a:chExt cx="2893588" cy="3284238"/>
          </a:xfrm>
        </p:grpSpPr>
        <p:sp>
          <p:nvSpPr>
            <p:cNvPr id="954" name="Google Shape;954;p37"/>
            <p:cNvSpPr/>
            <p:nvPr/>
          </p:nvSpPr>
          <p:spPr>
            <a:xfrm>
              <a:off x="0" y="3272100"/>
              <a:ext cx="12552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956" name="Google Shape;956;p37"/>
            <p:cNvGrpSpPr/>
            <p:nvPr/>
          </p:nvGrpSpPr>
          <p:grpSpPr>
            <a:xfrm>
              <a:off x="-630087" y="1859288"/>
              <a:ext cx="1885275" cy="1884250"/>
              <a:chOff x="2609275" y="3149350"/>
              <a:chExt cx="1885275" cy="1884250"/>
            </a:xfrm>
          </p:grpSpPr>
          <p:sp>
            <p:nvSpPr>
              <p:cNvPr id="957" name="Google Shape;957;p37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7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7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7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7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7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7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7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7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7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7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7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7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7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7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7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7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7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7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6" name="Google Shape;976;p37"/>
          <p:cNvGrpSpPr/>
          <p:nvPr/>
        </p:nvGrpSpPr>
        <p:grpSpPr>
          <a:xfrm>
            <a:off x="5969750" y="-1678600"/>
            <a:ext cx="3756875" cy="2788075"/>
            <a:chOff x="5969750" y="-1678600"/>
            <a:chExt cx="3756875" cy="2788075"/>
          </a:xfrm>
        </p:grpSpPr>
        <p:sp>
          <p:nvSpPr>
            <p:cNvPr id="977" name="Google Shape;977;p37"/>
            <p:cNvSpPr/>
            <p:nvPr/>
          </p:nvSpPr>
          <p:spPr>
            <a:xfrm>
              <a:off x="7844125" y="896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78" name="Google Shape;978;p37"/>
            <p:cNvSpPr/>
            <p:nvPr/>
          </p:nvSpPr>
          <p:spPr>
            <a:xfrm rot="-5400000">
              <a:off x="5969750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data are we working with? </a:t>
            </a:r>
            <a:endParaRPr dirty="0"/>
          </a:p>
        </p:txBody>
      </p:sp>
      <p:sp>
        <p:nvSpPr>
          <p:cNvPr id="1121" name="Google Shape;1121;p43"/>
          <p:cNvSpPr txBox="1">
            <a:spLocks noGrp="1"/>
          </p:cNvSpPr>
          <p:nvPr>
            <p:ph type="subTitle" idx="1"/>
          </p:nvPr>
        </p:nvSpPr>
        <p:spPr>
          <a:xfrm>
            <a:off x="821454" y="1243009"/>
            <a:ext cx="3516600" cy="31101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</a:pPr>
            <a:r>
              <a:rPr lang="en-GB" b="1" dirty="0"/>
              <a:t>Key Characteristics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US Census data from 1994/1995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~300k rows / anonymised individuals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Demographics, education, job features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Target column is binary (&gt;$50k or &lt;=$50k)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</a:pPr>
            <a:r>
              <a:rPr lang="en-GB" b="1" dirty="0"/>
              <a:t>Data Health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No nulls/missing values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High target (income) class imbalance: </a:t>
            </a:r>
          </a:p>
          <a:p>
            <a:pPr marL="628650" lvl="1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Only ~6% of observations above $50k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9E72C9-466B-4A2F-E591-EDC449022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545" y="1133986"/>
            <a:ext cx="2178570" cy="347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46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stood out at first glance?</a:t>
            </a:r>
            <a:endParaRPr dirty="0"/>
          </a:p>
        </p:txBody>
      </p:sp>
      <p:sp>
        <p:nvSpPr>
          <p:cNvPr id="1167" name="Google Shape;1167;p46"/>
          <p:cNvSpPr txBox="1">
            <a:spLocks noGrp="1"/>
          </p:cNvSpPr>
          <p:nvPr>
            <p:ph type="subTitle" idx="1"/>
          </p:nvPr>
        </p:nvSpPr>
        <p:spPr>
          <a:xfrm>
            <a:off x="722375" y="336170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Individuals with higher educational attainment are far more likely to fall into the &gt;$50k income group</a:t>
            </a:r>
            <a:endParaRPr lang="en" dirty="0"/>
          </a:p>
        </p:txBody>
      </p:sp>
      <p:sp>
        <p:nvSpPr>
          <p:cNvPr id="1168" name="Google Shape;1168;p46"/>
          <p:cNvSpPr txBox="1">
            <a:spLocks noGrp="1"/>
          </p:cNvSpPr>
          <p:nvPr>
            <p:ph type="subTitle" idx="2"/>
          </p:nvPr>
        </p:nvSpPr>
        <p:spPr>
          <a:xfrm>
            <a:off x="3300911" y="336170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Managerial and certain specialised roles show a strong concentration of higher earners compared to other occupations</a:t>
            </a:r>
            <a:endParaRPr dirty="0"/>
          </a:p>
        </p:txBody>
      </p:sp>
      <p:sp>
        <p:nvSpPr>
          <p:cNvPr id="1169" name="Google Shape;1169;p46"/>
          <p:cNvSpPr txBox="1">
            <a:spLocks noGrp="1"/>
          </p:cNvSpPr>
          <p:nvPr>
            <p:ph type="subTitle" idx="3"/>
          </p:nvPr>
        </p:nvSpPr>
        <p:spPr>
          <a:xfrm>
            <a:off x="722375" y="306122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Education</a:t>
            </a:r>
            <a:endParaRPr dirty="0"/>
          </a:p>
        </p:txBody>
      </p:sp>
      <p:sp>
        <p:nvSpPr>
          <p:cNvPr id="1170" name="Google Shape;1170;p46"/>
          <p:cNvSpPr txBox="1">
            <a:spLocks noGrp="1"/>
          </p:cNvSpPr>
          <p:nvPr>
            <p:ph type="subTitle" idx="4"/>
          </p:nvPr>
        </p:nvSpPr>
        <p:spPr>
          <a:xfrm>
            <a:off x="3300919" y="306122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Occupation</a:t>
            </a:r>
            <a:endParaRPr dirty="0"/>
          </a:p>
        </p:txBody>
      </p:sp>
      <p:sp>
        <p:nvSpPr>
          <p:cNvPr id="1171" name="Google Shape;1171;p46"/>
          <p:cNvSpPr txBox="1">
            <a:spLocks noGrp="1"/>
          </p:cNvSpPr>
          <p:nvPr>
            <p:ph type="subTitle" idx="5"/>
          </p:nvPr>
        </p:nvSpPr>
        <p:spPr>
          <a:xfrm>
            <a:off x="6031775" y="3647819"/>
            <a:ext cx="2389800" cy="858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Demographic groups differ noticeably in income distribution. These patterns reflect broader social and structural factors</a:t>
            </a:r>
            <a:endParaRPr dirty="0"/>
          </a:p>
        </p:txBody>
      </p:sp>
      <p:sp>
        <p:nvSpPr>
          <p:cNvPr id="1172" name="Google Shape;1172;p46"/>
          <p:cNvSpPr txBox="1">
            <a:spLocks noGrp="1"/>
          </p:cNvSpPr>
          <p:nvPr>
            <p:ph type="subTitle" idx="6"/>
          </p:nvPr>
        </p:nvSpPr>
        <p:spPr>
          <a:xfrm>
            <a:off x="6031775" y="3061225"/>
            <a:ext cx="2389800" cy="6843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Protected Characteristics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92927A-C7BE-7974-7DD8-DB3192C9F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52" y="1412675"/>
            <a:ext cx="2581800" cy="1537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35B5B-7738-5A6D-7C8C-9BFEDBB26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252" y="1412675"/>
            <a:ext cx="2585427" cy="15374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33FF8A-7BF3-1189-7B06-EC671A43A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680" y="1412675"/>
            <a:ext cx="2581799" cy="153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3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Approach to protected characteristics</a:t>
            </a:r>
            <a:endParaRPr dirty="0"/>
          </a:p>
        </p:txBody>
      </p:sp>
      <p:sp>
        <p:nvSpPr>
          <p:cNvPr id="1122" name="Google Shape;1122;p43"/>
          <p:cNvSpPr txBox="1">
            <a:spLocks noGrp="1"/>
          </p:cNvSpPr>
          <p:nvPr>
            <p:ph type="subTitle" idx="2"/>
          </p:nvPr>
        </p:nvSpPr>
        <p:spPr>
          <a:xfrm>
            <a:off x="3969651" y="1315367"/>
            <a:ext cx="4123033" cy="2279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Race, marital status, gender, age and others should be treated with caution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They will be used as part of this analysis and experimentation piece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For any actions off the back of this or any deployed use cases, an established process should be followed:</a:t>
            </a:r>
          </a:p>
          <a:p>
            <a:pPr marL="6286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" dirty="0"/>
              <a:t>Consultation with Risk area</a:t>
            </a:r>
          </a:p>
          <a:p>
            <a:pPr marL="6286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" dirty="0"/>
              <a:t>Fairness and ethical assessment</a:t>
            </a:r>
          </a:p>
          <a:p>
            <a:pPr marL="6286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" dirty="0"/>
              <a:t>Inclusion into product governance</a:t>
            </a:r>
          </a:p>
          <a:p>
            <a:pPr marL="6286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" dirty="0"/>
              <a:t>Potential masking/exclusion of features</a:t>
            </a:r>
          </a:p>
          <a:p>
            <a:pPr marL="628650" lvl="1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" dirty="0"/>
          </a:p>
        </p:txBody>
      </p:sp>
      <p:grpSp>
        <p:nvGrpSpPr>
          <p:cNvPr id="4" name="Google Shape;9935;p85">
            <a:extLst>
              <a:ext uri="{FF2B5EF4-FFF2-40B4-BE49-F238E27FC236}">
                <a16:creationId xmlns:a16="http://schemas.microsoft.com/office/drawing/2014/main" id="{84757A6E-E59A-3372-09DB-54D3A489A226}"/>
              </a:ext>
            </a:extLst>
          </p:cNvPr>
          <p:cNvGrpSpPr/>
          <p:nvPr/>
        </p:nvGrpSpPr>
        <p:grpSpPr>
          <a:xfrm>
            <a:off x="1216321" y="2000051"/>
            <a:ext cx="1325148" cy="1143397"/>
            <a:chOff x="6239575" y="4416275"/>
            <a:chExt cx="489625" cy="449175"/>
          </a:xfrm>
          <a:solidFill>
            <a:schemeClr val="accent2"/>
          </a:solidFill>
        </p:grpSpPr>
        <p:sp>
          <p:nvSpPr>
            <p:cNvPr id="5" name="Google Shape;9936;p85">
              <a:extLst>
                <a:ext uri="{FF2B5EF4-FFF2-40B4-BE49-F238E27FC236}">
                  <a16:creationId xmlns:a16="http://schemas.microsoft.com/office/drawing/2014/main" id="{6E2CA05D-F92D-23B7-B482-553E72DD78C9}"/>
                </a:ext>
              </a:extLst>
            </p:cNvPr>
            <p:cNvSpPr/>
            <p:nvPr/>
          </p:nvSpPr>
          <p:spPr>
            <a:xfrm>
              <a:off x="6239575" y="4416275"/>
              <a:ext cx="489625" cy="449175"/>
            </a:xfrm>
            <a:custGeom>
              <a:avLst/>
              <a:gdLst/>
              <a:ahLst/>
              <a:cxnLst/>
              <a:rect l="l" t="t" r="r" b="b"/>
              <a:pathLst>
                <a:path w="19585" h="17967" extrusionOk="0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9937;p85">
              <a:extLst>
                <a:ext uri="{FF2B5EF4-FFF2-40B4-BE49-F238E27FC236}">
                  <a16:creationId xmlns:a16="http://schemas.microsoft.com/office/drawing/2014/main" id="{395B2ADC-085C-26D9-DED7-CBC11E600043}"/>
                </a:ext>
              </a:extLst>
            </p:cNvPr>
            <p:cNvSpPr/>
            <p:nvPr/>
          </p:nvSpPr>
          <p:spPr>
            <a:xfrm>
              <a:off x="6438550" y="4723875"/>
              <a:ext cx="88350" cy="84950"/>
            </a:xfrm>
            <a:custGeom>
              <a:avLst/>
              <a:gdLst/>
              <a:ahLst/>
              <a:cxnLst/>
              <a:rect l="l" t="t" r="r" b="b"/>
              <a:pathLst>
                <a:path w="3534" h="3398" extrusionOk="0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9938;p85">
              <a:extLst>
                <a:ext uri="{FF2B5EF4-FFF2-40B4-BE49-F238E27FC236}">
                  <a16:creationId xmlns:a16="http://schemas.microsoft.com/office/drawing/2014/main" id="{6A312EA9-9CAA-5E52-C8F8-447EE34ECB2A}"/>
                </a:ext>
              </a:extLst>
            </p:cNvPr>
            <p:cNvSpPr/>
            <p:nvPr/>
          </p:nvSpPr>
          <p:spPr>
            <a:xfrm>
              <a:off x="6441950" y="4497425"/>
              <a:ext cx="84950" cy="198250"/>
            </a:xfrm>
            <a:custGeom>
              <a:avLst/>
              <a:gdLst/>
              <a:ahLst/>
              <a:cxnLst/>
              <a:rect l="l" t="t" r="r" b="b"/>
              <a:pathLst>
                <a:path w="3398" h="7930" extrusionOk="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656DEA7-90AB-F972-9C20-A2E00D4BFCDC}"/>
              </a:ext>
            </a:extLst>
          </p:cNvPr>
          <p:cNvSpPr txBox="1"/>
          <p:nvPr/>
        </p:nvSpPr>
        <p:spPr>
          <a:xfrm>
            <a:off x="633184" y="3594975"/>
            <a:ext cx="24914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chemeClr val="tx1"/>
                </a:solidFill>
              </a:rPr>
              <a:t>“People should be protected from unsafe or ineffective automated systems, and from discrimination by algorithms.”</a:t>
            </a:r>
          </a:p>
          <a:p>
            <a:pPr algn="r"/>
            <a:r>
              <a:rPr lang="en-GB" sz="1000" i="1" dirty="0">
                <a:solidFill>
                  <a:schemeClr val="tx1"/>
                </a:solidFill>
              </a:rPr>
              <a:t>- White House Blueprint for an AI Bill of Rights (2022)</a:t>
            </a:r>
          </a:p>
        </p:txBody>
      </p:sp>
    </p:spTree>
    <p:extLst>
      <p:ext uri="{BB962C8B-B14F-4D97-AF65-F5344CB8AC3E}">
        <p14:creationId xmlns:p14="http://schemas.microsoft.com/office/powerpoint/2010/main" val="269447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6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 overview</a:t>
            </a:r>
            <a:endParaRPr dirty="0"/>
          </a:p>
        </p:txBody>
      </p:sp>
      <p:sp>
        <p:nvSpPr>
          <p:cNvPr id="5" name="Google Shape;1122;p43">
            <a:extLst>
              <a:ext uri="{FF2B5EF4-FFF2-40B4-BE49-F238E27FC236}">
                <a16:creationId xmlns:a16="http://schemas.microsoft.com/office/drawing/2014/main" id="{A221FEB2-049E-657F-9CCE-BCEBC3934909}"/>
              </a:ext>
            </a:extLst>
          </p:cNvPr>
          <p:cNvSpPr txBox="1">
            <a:spLocks/>
          </p:cNvSpPr>
          <p:nvPr/>
        </p:nvSpPr>
        <p:spPr>
          <a:xfrm>
            <a:off x="801730" y="1237074"/>
            <a:ext cx="5793942" cy="300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71450" indent="-17145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628650" indent="-171450">
              <a:spcBef>
                <a:spcPts val="6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en" b="1" dirty="0"/>
              <a:t>Key Steps</a:t>
            </a:r>
          </a:p>
          <a:p>
            <a:r>
              <a:rPr lang="en" dirty="0"/>
              <a:t>Dropped the “instance_weight” column</a:t>
            </a:r>
          </a:p>
          <a:p>
            <a:r>
              <a:rPr lang="en" dirty="0"/>
              <a:t>Standardized categorical values: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" dirty="0"/>
              <a:t>String conversion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" dirty="0"/>
              <a:t>Whitespace trimming</a:t>
            </a:r>
          </a:p>
          <a:p>
            <a:r>
              <a:rPr lang="en" dirty="0"/>
              <a:t>Retained the “Not in universe” entries</a:t>
            </a:r>
          </a:p>
          <a:p>
            <a:r>
              <a:rPr lang="en" dirty="0"/>
              <a:t>For the models that require it, encoded as follows: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" dirty="0"/>
              <a:t>One-Hot encoding for low cardinality features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" dirty="0"/>
              <a:t>Target encoding for high cardinality features</a:t>
            </a:r>
          </a:p>
          <a:p>
            <a:pPr>
              <a:spcBef>
                <a:spcPts val="0"/>
              </a:spcBef>
            </a:pPr>
            <a:r>
              <a:rPr lang="en" dirty="0"/>
              <a:t>Normalized any numeric features using Z-score normalization</a:t>
            </a:r>
          </a:p>
        </p:txBody>
      </p:sp>
    </p:spTree>
    <p:extLst>
      <p:ext uri="{BB962C8B-B14F-4D97-AF65-F5344CB8AC3E}">
        <p14:creationId xmlns:p14="http://schemas.microsoft.com/office/powerpoint/2010/main" val="422979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Modelling Approach</a:t>
            </a:r>
            <a:endParaRPr dirty="0"/>
          </a:p>
        </p:txBody>
      </p:sp>
      <p:sp>
        <p:nvSpPr>
          <p:cNvPr id="1167" name="Google Shape;1167;p46"/>
          <p:cNvSpPr txBox="1">
            <a:spLocks noGrp="1"/>
          </p:cNvSpPr>
          <p:nvPr>
            <p:ph type="subTitle" idx="1"/>
          </p:nvPr>
        </p:nvSpPr>
        <p:spPr>
          <a:xfrm>
            <a:off x="798552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Parametric model tailored for binary classification</a:t>
            </a:r>
          </a:p>
          <a:p>
            <a:pPr marL="171450" lvl="0" indent="-17145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Highly interpretable</a:t>
            </a:r>
          </a:p>
          <a:p>
            <a:pPr marL="171450" lvl="0" indent="-17145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Fast to train</a:t>
            </a:r>
          </a:p>
          <a:p>
            <a:pPr marL="171450" lvl="0" indent="-17145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Strong baseline for benchmarking</a:t>
            </a:r>
            <a:endParaRPr dirty="0"/>
          </a:p>
        </p:txBody>
      </p:sp>
      <p:sp>
        <p:nvSpPr>
          <p:cNvPr id="1168" name="Google Shape;1168;p46"/>
          <p:cNvSpPr txBox="1">
            <a:spLocks noGrp="1"/>
          </p:cNvSpPr>
          <p:nvPr>
            <p:ph type="subTitle" idx="2"/>
          </p:nvPr>
        </p:nvSpPr>
        <p:spPr>
          <a:xfrm>
            <a:off x="3377088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Ensemble of decision trees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Captures non-linear relationships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Flexible tuning via hyperparameters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Robust to outliers</a:t>
            </a:r>
            <a:endParaRPr dirty="0"/>
          </a:p>
        </p:txBody>
      </p:sp>
      <p:sp>
        <p:nvSpPr>
          <p:cNvPr id="1169" name="Google Shape;1169;p46"/>
          <p:cNvSpPr txBox="1">
            <a:spLocks noGrp="1"/>
          </p:cNvSpPr>
          <p:nvPr>
            <p:ph type="subTitle" idx="3"/>
          </p:nvPr>
        </p:nvSpPr>
        <p:spPr>
          <a:xfrm>
            <a:off x="798552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Logistic Regression</a:t>
            </a:r>
            <a:endParaRPr sz="1400" dirty="0"/>
          </a:p>
        </p:txBody>
      </p:sp>
      <p:sp>
        <p:nvSpPr>
          <p:cNvPr id="1170" name="Google Shape;1170;p46"/>
          <p:cNvSpPr txBox="1">
            <a:spLocks noGrp="1"/>
          </p:cNvSpPr>
          <p:nvPr>
            <p:ph type="subTitle" idx="4"/>
          </p:nvPr>
        </p:nvSpPr>
        <p:spPr>
          <a:xfrm>
            <a:off x="3377096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Random Forest</a:t>
            </a:r>
            <a:endParaRPr sz="1400" dirty="0"/>
          </a:p>
        </p:txBody>
      </p:sp>
      <p:sp>
        <p:nvSpPr>
          <p:cNvPr id="1171" name="Google Shape;1171;p46"/>
          <p:cNvSpPr txBox="1">
            <a:spLocks noGrp="1"/>
          </p:cNvSpPr>
          <p:nvPr>
            <p:ph type="subTitle" idx="5"/>
          </p:nvPr>
        </p:nvSpPr>
        <p:spPr>
          <a:xfrm>
            <a:off x="5955640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Gradient boosting model </a:t>
            </a: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Optimised for categorical data</a:t>
            </a: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Does not require heavy preprocessing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/>
              <a:t>Generalises well on test data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</a:pPr>
            <a:endParaRPr lang="en" dirty="0"/>
          </a:p>
        </p:txBody>
      </p:sp>
      <p:sp>
        <p:nvSpPr>
          <p:cNvPr id="1172" name="Google Shape;1172;p46"/>
          <p:cNvSpPr txBox="1">
            <a:spLocks noGrp="1"/>
          </p:cNvSpPr>
          <p:nvPr>
            <p:ph type="subTitle" idx="6"/>
          </p:nvPr>
        </p:nvSpPr>
        <p:spPr>
          <a:xfrm>
            <a:off x="5955648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CatBoost</a:t>
            </a:r>
            <a:endParaRPr sz="1400" dirty="0"/>
          </a:p>
        </p:txBody>
      </p:sp>
      <p:sp>
        <p:nvSpPr>
          <p:cNvPr id="1173" name="Google Shape;1173;p46"/>
          <p:cNvSpPr/>
          <p:nvPr/>
        </p:nvSpPr>
        <p:spPr>
          <a:xfrm>
            <a:off x="908527" y="1590950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74" name="Google Shape;1174;p46"/>
          <p:cNvSpPr/>
          <p:nvPr/>
        </p:nvSpPr>
        <p:spPr>
          <a:xfrm>
            <a:off x="3483889" y="1590950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75" name="Google Shape;1175;p46"/>
          <p:cNvSpPr/>
          <p:nvPr/>
        </p:nvSpPr>
        <p:spPr>
          <a:xfrm>
            <a:off x="6059264" y="1590950"/>
            <a:ext cx="879000" cy="87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B3C562-DEEC-A1BC-B8C5-7A005BC3E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12" y="1800681"/>
            <a:ext cx="473895" cy="457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37BC3-34FF-E4E4-D6E5-E98B0CA5D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151" y="1726023"/>
            <a:ext cx="582108" cy="568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8D3DD5-50FD-1791-55F3-9D98CF16C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244" y="1775194"/>
            <a:ext cx="721040" cy="50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96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Which model performed best?</a:t>
            </a:r>
            <a:endParaRPr dirty="0"/>
          </a:p>
        </p:txBody>
      </p:sp>
      <p:sp>
        <p:nvSpPr>
          <p:cNvPr id="1121" name="Google Shape;1121;p43"/>
          <p:cNvSpPr txBox="1">
            <a:spLocks noGrp="1"/>
          </p:cNvSpPr>
          <p:nvPr>
            <p:ph type="subTitle" idx="1"/>
          </p:nvPr>
        </p:nvSpPr>
        <p:spPr>
          <a:xfrm>
            <a:off x="722375" y="2187936"/>
            <a:ext cx="2058555" cy="9024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Accuracy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Logistic Regression: 86%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Random Forest: 95%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CatBoost: 88%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4723C-ACEE-E914-178D-71864D7C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586" y="1656300"/>
            <a:ext cx="2173404" cy="2565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DEBD03-BEB0-65FF-F1B0-09C0E2960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646" y="2933903"/>
            <a:ext cx="2120564" cy="784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03AA37-9B73-01E4-CEE0-A4BA7BFD6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655" y="2072984"/>
            <a:ext cx="2073802" cy="7906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81D5F4-FFC6-2DFE-EBC8-6FCA6A5FCCF4}"/>
              </a:ext>
            </a:extLst>
          </p:cNvPr>
          <p:cNvSpPr txBox="1"/>
          <p:nvPr/>
        </p:nvSpPr>
        <p:spPr>
          <a:xfrm>
            <a:off x="3139536" y="1378105"/>
            <a:ext cx="25855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Maven Pro"/>
                <a:sym typeface="Maven Pro"/>
              </a:rPr>
              <a:t>CatBoost is the clear winner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EFCFE-6AA0-8469-F3D9-07B9D4AEB721}"/>
              </a:ext>
            </a:extLst>
          </p:cNvPr>
          <p:cNvSpPr txBox="1"/>
          <p:nvPr/>
        </p:nvSpPr>
        <p:spPr>
          <a:xfrm>
            <a:off x="5871804" y="1795985"/>
            <a:ext cx="25855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Maven Pro"/>
                <a:sym typeface="Maven Pro"/>
              </a:rPr>
              <a:t>Overfitting is not a concern</a:t>
            </a:r>
          </a:p>
        </p:txBody>
      </p:sp>
      <p:sp>
        <p:nvSpPr>
          <p:cNvPr id="13" name="Google Shape;1121;p43">
            <a:extLst>
              <a:ext uri="{FF2B5EF4-FFF2-40B4-BE49-F238E27FC236}">
                <a16:creationId xmlns:a16="http://schemas.microsoft.com/office/drawing/2014/main" id="{04C72F92-005E-D39D-259C-841DFE60FA0A}"/>
              </a:ext>
            </a:extLst>
          </p:cNvPr>
          <p:cNvSpPr txBox="1">
            <a:spLocks/>
          </p:cNvSpPr>
          <p:nvPr/>
        </p:nvSpPr>
        <p:spPr>
          <a:xfrm>
            <a:off x="722375" y="3090378"/>
            <a:ext cx="2058555" cy="5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/>
            <a:r>
              <a:rPr lang="en" b="1" dirty="0"/>
              <a:t>..but this does not paint the bigger picture!</a:t>
            </a:r>
            <a:endParaRPr lang="e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DB0316-9F97-C979-F940-18627634D000}"/>
              </a:ext>
            </a:extLst>
          </p:cNvPr>
          <p:cNvSpPr/>
          <p:nvPr/>
        </p:nvSpPr>
        <p:spPr>
          <a:xfrm>
            <a:off x="4057338" y="2020518"/>
            <a:ext cx="679554" cy="1049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B635E3-A31B-DC6F-0D12-E2E581ED359D}"/>
              </a:ext>
            </a:extLst>
          </p:cNvPr>
          <p:cNvSpPr/>
          <p:nvPr/>
        </p:nvSpPr>
        <p:spPr>
          <a:xfrm>
            <a:off x="4057338" y="2863670"/>
            <a:ext cx="679554" cy="1049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64FBA3-8777-8435-8106-CCEDE0816170}"/>
              </a:ext>
            </a:extLst>
          </p:cNvPr>
          <p:cNvSpPr/>
          <p:nvPr/>
        </p:nvSpPr>
        <p:spPr>
          <a:xfrm>
            <a:off x="4057338" y="3718562"/>
            <a:ext cx="679554" cy="1049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49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drives high income in the model?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2CB50-E264-BC13-9F73-B869CC460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2" y="1178298"/>
            <a:ext cx="3429774" cy="3230684"/>
          </a:xfrm>
          <a:prstGeom prst="rect">
            <a:avLst/>
          </a:prstGeom>
        </p:spPr>
      </p:pic>
      <p:sp>
        <p:nvSpPr>
          <p:cNvPr id="12" name="Google Shape;1122;p43">
            <a:extLst>
              <a:ext uri="{FF2B5EF4-FFF2-40B4-BE49-F238E27FC236}">
                <a16:creationId xmlns:a16="http://schemas.microsoft.com/office/drawing/2014/main" id="{B2FF40EB-CC14-8DA5-09D1-6D2F7FE916C8}"/>
              </a:ext>
            </a:extLst>
          </p:cNvPr>
          <p:cNvSpPr txBox="1">
            <a:spLocks/>
          </p:cNvSpPr>
          <p:nvPr/>
        </p:nvSpPr>
        <p:spPr>
          <a:xfrm>
            <a:off x="4393301" y="1178298"/>
            <a:ext cx="4206057" cy="3230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71450" indent="-17145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628650" indent="-171450">
              <a:spcBef>
                <a:spcPts val="6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indent="-304800">
              <a:buClr>
                <a:schemeClr val="dk1"/>
              </a:buClr>
              <a:buSzPts val="1200"/>
              <a:buFont typeface="Maven Pro"/>
              <a:buNone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en" b="1" dirty="0"/>
              <a:t>The top five features in terms of importance for the model are: </a:t>
            </a:r>
          </a:p>
          <a:p>
            <a:r>
              <a:rPr lang="en" dirty="0"/>
              <a:t>Age</a:t>
            </a:r>
          </a:p>
          <a:p>
            <a:r>
              <a:rPr lang="en" dirty="0"/>
              <a:t>Weeks worked (within the last year)</a:t>
            </a:r>
          </a:p>
          <a:p>
            <a:r>
              <a:rPr lang="en" dirty="0"/>
              <a:t>Tax filer status</a:t>
            </a:r>
          </a:p>
          <a:p>
            <a:r>
              <a:rPr lang="en" dirty="0"/>
              <a:t>Education</a:t>
            </a:r>
          </a:p>
          <a:p>
            <a:r>
              <a:rPr lang="en" dirty="0"/>
              <a:t>Sex</a:t>
            </a:r>
          </a:p>
          <a:p>
            <a:pPr marL="0" indent="0">
              <a:buNone/>
            </a:pPr>
            <a:r>
              <a:rPr lang="en" dirty="0"/>
              <a:t>These are largely in line with the observations from the initial EDA</a:t>
            </a:r>
          </a:p>
          <a:p>
            <a:pPr marL="0" indent="0">
              <a:buNone/>
            </a:pPr>
            <a:r>
              <a:rPr lang="en" b="1" dirty="0"/>
              <a:t>But how do these features impact the output?</a:t>
            </a:r>
          </a:p>
          <a:p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5922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CB02-E2EC-23F6-EC2E-68B654D8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424576"/>
            <a:ext cx="7699200" cy="572700"/>
          </a:xfrm>
        </p:spPr>
        <p:txBody>
          <a:bodyPr/>
          <a:lstStyle/>
          <a:p>
            <a:r>
              <a:rPr lang="en-GB" dirty="0"/>
              <a:t>Visualizing the impact (1)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C1B8C-F209-55A8-470C-72413A5B2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89" y="1243987"/>
            <a:ext cx="2375641" cy="3065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BE02CF-97ED-C673-C9AB-0A7EA55EF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518" y="1243987"/>
            <a:ext cx="2460274" cy="306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7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CB02-E2EC-23F6-EC2E-68B654D8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424576"/>
            <a:ext cx="7699200" cy="572700"/>
          </a:xfrm>
        </p:spPr>
        <p:txBody>
          <a:bodyPr/>
          <a:lstStyle/>
          <a:p>
            <a:r>
              <a:rPr lang="en-GB" dirty="0"/>
              <a:t>Visualizing the impact (2)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7B6768-69B7-9EA3-A93B-2AC6EB3DE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93" y="1200724"/>
            <a:ext cx="2900074" cy="30780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011FA4-D29D-09E6-C922-0FCF61776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463" y="1202682"/>
            <a:ext cx="2383949" cy="30760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668BD7-D0BD-AFBF-CAEE-C7B3B1E92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120" y="1200724"/>
            <a:ext cx="2790478" cy="307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E773C-DEC5-80D5-1798-2C0148320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&amp; future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AF610-1A60-490B-8065-3A0745C8B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6475" y="1282314"/>
            <a:ext cx="3516600" cy="300987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 dirty="0"/>
              <a:t>Limitations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Protected characteristics </a:t>
            </a:r>
            <a:r>
              <a:rPr lang="en-GB" dirty="0"/>
              <a:t>included in the analysis but would likely not be used in a production setting for any inference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binary target</a:t>
            </a:r>
            <a:r>
              <a:rPr lang="en-GB" dirty="0"/>
              <a:t> limitation: modelling a more granular target (either buckets of income or numerical values) might uncover more nuanced relationships in the data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Correlation does not equal causatio</a:t>
            </a:r>
            <a:r>
              <a:rPr lang="en-GB" dirty="0"/>
              <a:t>n – the underlying cause-and-effect relationships will need to be examined to eliminate the risk of making discriminatory and costly decisions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4695E8B-C81C-3C06-C99E-D4EABDE289A1}"/>
              </a:ext>
            </a:extLst>
          </p:cNvPr>
          <p:cNvSpPr txBox="1">
            <a:spLocks/>
          </p:cNvSpPr>
          <p:nvPr/>
        </p:nvSpPr>
        <p:spPr>
          <a:xfrm>
            <a:off x="4571975" y="1282314"/>
            <a:ext cx="3516600" cy="300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>
              <a:spcAft>
                <a:spcPts val="600"/>
              </a:spcAft>
            </a:pPr>
            <a:r>
              <a:rPr lang="en-GB" b="1" dirty="0"/>
              <a:t>Future work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Undertake further </a:t>
            </a:r>
            <a:r>
              <a:rPr lang="en-GB" b="1" dirty="0"/>
              <a:t>feature engineering </a:t>
            </a:r>
            <a:r>
              <a:rPr lang="en-GB" dirty="0"/>
              <a:t>(e.g. buckets for high cardinality categorical features, log transforms for outliers)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Improve </a:t>
            </a:r>
            <a:r>
              <a:rPr lang="en-GB" dirty="0" err="1"/>
              <a:t>CatBoost’s</a:t>
            </a:r>
            <a:r>
              <a:rPr lang="en-GB" dirty="0"/>
              <a:t> performance by </a:t>
            </a:r>
            <a:r>
              <a:rPr lang="en-GB" b="1" dirty="0"/>
              <a:t>hyperparameter tuning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Productionize the notebook code into </a:t>
            </a:r>
            <a:r>
              <a:rPr lang="en-GB" b="1" dirty="0"/>
              <a:t>reproducible and tested pipelines </a:t>
            </a:r>
            <a:r>
              <a:rPr lang="en-GB" dirty="0"/>
              <a:t>(incl. data refresh, training, prediction and monitoring)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Data Science Studio </a:t>
            </a:r>
            <a:r>
              <a:rPr lang="en-GB" dirty="0"/>
              <a:t>to create a monitoring dashboard and deploy the model as an API endpoint for inference</a:t>
            </a:r>
          </a:p>
        </p:txBody>
      </p:sp>
    </p:spTree>
    <p:extLst>
      <p:ext uri="{BB962C8B-B14F-4D97-AF65-F5344CB8AC3E}">
        <p14:creationId xmlns:p14="http://schemas.microsoft.com/office/powerpoint/2010/main" val="124859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9"/>
          <p:cNvSpPr txBox="1">
            <a:spLocks noGrp="1"/>
          </p:cNvSpPr>
          <p:nvPr>
            <p:ph type="title"/>
          </p:nvPr>
        </p:nvSpPr>
        <p:spPr>
          <a:xfrm>
            <a:off x="1892300" y="1524000"/>
            <a:ext cx="5359500" cy="20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Questions</a:t>
            </a:r>
            <a:endParaRPr sz="6000" b="0" dirty="0"/>
          </a:p>
        </p:txBody>
      </p:sp>
      <p:grpSp>
        <p:nvGrpSpPr>
          <p:cNvPr id="1259" name="Google Shape;1259;p49"/>
          <p:cNvGrpSpPr/>
          <p:nvPr/>
        </p:nvGrpSpPr>
        <p:grpSpPr>
          <a:xfrm>
            <a:off x="-414699" y="2121375"/>
            <a:ext cx="2206575" cy="3022125"/>
            <a:chOff x="-414699" y="2121375"/>
            <a:chExt cx="2206575" cy="3022125"/>
          </a:xfrm>
        </p:grpSpPr>
        <p:sp>
          <p:nvSpPr>
            <p:cNvPr id="1260" name="Google Shape;1260;p49"/>
            <p:cNvSpPr/>
            <p:nvPr/>
          </p:nvSpPr>
          <p:spPr>
            <a:xfrm>
              <a:off x="-6624" y="3551700"/>
              <a:ext cx="1798500" cy="159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61" name="Google Shape;1261;p49"/>
            <p:cNvSpPr/>
            <p:nvPr/>
          </p:nvSpPr>
          <p:spPr>
            <a:xfrm flipH="1">
              <a:off x="-414699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1262" name="Google Shape;1262;p49"/>
            <p:cNvGrpSpPr/>
            <p:nvPr/>
          </p:nvGrpSpPr>
          <p:grpSpPr>
            <a:xfrm flipH="1">
              <a:off x="229314" y="2121375"/>
              <a:ext cx="986125" cy="2095500"/>
              <a:chOff x="7631225" y="2241175"/>
              <a:chExt cx="986125" cy="2095500"/>
            </a:xfrm>
          </p:grpSpPr>
          <p:cxnSp>
            <p:nvCxnSpPr>
              <p:cNvPr id="1263" name="Google Shape;1263;p49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4" name="Google Shape;1264;p49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5" name="Google Shape;1265;p49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6" name="Google Shape;1266;p49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7" name="Google Shape;1267;p49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8" name="Google Shape;1268;p49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9" name="Google Shape;1269;p49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0" name="Google Shape;1270;p49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1" name="Google Shape;1271;p49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2" name="Google Shape;1272;p49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3" name="Google Shape;1273;p49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4" name="Google Shape;1274;p49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5" name="Google Shape;1275;p49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6" name="Google Shape;1276;p49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277" name="Google Shape;1277;p49"/>
          <p:cNvSpPr/>
          <p:nvPr/>
        </p:nvSpPr>
        <p:spPr>
          <a:xfrm rot="5400000" flipH="1">
            <a:off x="570514" y="-1203225"/>
            <a:ext cx="2325825" cy="2325825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Annual Report by Slidesgo">
  <a:themeElements>
    <a:clrScheme name="Simple Light">
      <a:dk1>
        <a:srgbClr val="00094A"/>
      </a:dk1>
      <a:lt1>
        <a:srgbClr val="00649F"/>
      </a:lt1>
      <a:dk2>
        <a:srgbClr val="FEFEFE"/>
      </a:dk2>
      <a:lt2>
        <a:srgbClr val="63DBF5"/>
      </a:lt2>
      <a:accent1>
        <a:srgbClr val="006DF5"/>
      </a:accent1>
      <a:accent2>
        <a:srgbClr val="516C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608</Words>
  <Application>Microsoft Office PowerPoint</Application>
  <PresentationFormat>On-screen Show (16:9)</PresentationFormat>
  <Paragraphs>86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</vt:lpstr>
      <vt:lpstr>Maven Pro</vt:lpstr>
      <vt:lpstr>Business Annual Report by Slidesgo</vt:lpstr>
      <vt:lpstr>Understanding Drivers of Earning Above/Below $50k</vt:lpstr>
      <vt:lpstr>What data are we working with? </vt:lpstr>
      <vt:lpstr>What stood out at first glance?</vt:lpstr>
      <vt:lpstr>Approach to protected characteristics</vt:lpstr>
      <vt:lpstr>Data preprocessing overview</vt:lpstr>
      <vt:lpstr>Modelling Approach</vt:lpstr>
      <vt:lpstr>Which model performed best?</vt:lpstr>
      <vt:lpstr>What drives high income in the model?</vt:lpstr>
      <vt:lpstr>Visualizing the impact (1)</vt:lpstr>
      <vt:lpstr>Visualizing the impact (2)</vt:lpstr>
      <vt:lpstr>Limitations &amp; future work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Drivers of Earning Above/Below $50k</dc:title>
  <cp:lastModifiedBy>George</cp:lastModifiedBy>
  <cp:revision>26</cp:revision>
  <dcterms:modified xsi:type="dcterms:W3CDTF">2025-11-24T22:16:52Z</dcterms:modified>
</cp:coreProperties>
</file>